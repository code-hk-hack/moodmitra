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HOOK (Slide 1 - 30s):</a:t>
            </a:r>
          </a:p>
          <a:p>
            <a:r>
              <a:t>Good morning/afternoon, esteemed judges. We are presenting MoodMitra: an autonomous 3D anime emotional safety and crisis companion specifically engineered for the 45 million Indian students preparing for competitive exams like NEET and JEE.</a:t>
            </a:r>
          </a:p>
          <a:p/>
          <a:p>
            <a:r>
              <a:t>Unlike generic chatbots that output toxic positivity in long text paragraphs, MoodMitra features Mahiru: a living, breathing 3D elder sister powered by a dual-engine architecture combining Groq's sub-150ms speech intelligence and Google Gemini's kinematic gesture director, operating under a 100% deterministic, sub-1ms emergency crisis guardrail.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(Slide 2 - The Problem - 45s):</a:t>
            </a:r>
          </a:p>
          <a:p>
            <a:r>
              <a:t>Look at the reality in India today. 86% of students in coaching hubs like Kota and Delhi report paralyzing exam anxiety. Academic pressure increases adolescent depression risk by 2.4 times.</a:t>
            </a:r>
          </a:p>
          <a:p/>
          <a:p>
            <a:r>
              <a:t>When a student feels broken at 2 AM after failing a mock test, generic AI tools fail them completely. ChatGPT gives them an essay with toxic cheerleading—telling them to 'just stay positive'. Worse, existing voice assistants take 8 to 12 seconds to respond, and text has zero warmth or physical co-regulation.</a:t>
            </a:r>
          </a:p>
          <a:p/>
          <a:p>
            <a:r>
              <a:t>Students don't need a search engine or a cheerful robot. They need an elder sibling who truly listens, validates their pain in their own language, and immediately protects them if they are in danger.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(Slide 3 - The Solution - 45s):</a:t>
            </a:r>
          </a:p>
          <a:p>
            <a:r>
              <a:t>MoodMitra introduces three groundbreaking innovations.</a:t>
            </a:r>
          </a:p>
          <a:p/>
          <a:p>
            <a:r>
              <a:t>First, Embodied Presence with Mahiru: Built on Three.js and VRM, she maintains eye contact, smiles warmly, and guides the student through somatic 4-7-8 breathing exercises with real-time sinusoidal chest expansion.</a:t>
            </a:r>
          </a:p>
          <a:p/>
          <a:p>
            <a:r>
              <a:t>Second, our 3-Stage Empathy Protocol: Derived from clinical therapy datasets, Mahiru validates their emotional pain first, cognitively reframes their mock test results, and prescribes a single manageable micro-action. Every word is concise and matches her voice 100%.</a:t>
            </a:r>
          </a:p>
          <a:p/>
          <a:p>
            <a:r>
              <a:t>Third, our Deterministic Crisis Router: If a student indicates self-harm, Mahiru does not ask for permission. In less than 1 millisecond, she locks the screen with India's Tele-MANAS 14416 helpline and dispatches immediate WhatsApp and SMS check-in alerts to parents and trusted friends.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(Slide 4 - Tech Stack &amp; Architecture - 45s):</a:t>
            </a:r>
          </a:p>
          <a:p>
            <a:r>
              <a:t>Under the hood, MoodMitra runs a lightning-fast dual-engine pipeline.</a:t>
            </a:r>
          </a:p>
          <a:p/>
          <a:p>
            <a:r>
              <a:t>On the frontend, Next.js 16 and Three-VRM render Mahiru directly on the client canvas, using Web Audio API FFT analysis for sample-accurate lip-sync with zero lag.</a:t>
            </a:r>
          </a:p>
          <a:p/>
          <a:p>
            <a:r>
              <a:t>When speech enters, Groq's Whisper Large-v3-Turbo transcribes it in under 150 milliseconds. Then, our dual-engine cognitive pipeline kicks in: Groq Llama 3.3 70B produces the empathetic verbal response under a strict 350-token budget, while Google Gemini 3.6 Flash runs in parallel as a kinematic director, calculating facial expressions, smile intensity, and avatar gestures.</a:t>
            </a:r>
          </a:p>
          <a:p/>
          <a:p>
            <a:r>
              <a:t>Voice is synthesized via Gnani.ai's 24kHz Indian English model and co-delivered to the browser. The total roundtrip latency is under 2.3 seconds—fast enough to feel completely natural.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(Slide 5 - Market Opportunity &amp; Clinical Data - 45s):</a:t>
            </a:r>
          </a:p>
          <a:p>
            <a:r>
              <a:t>Let's talk about the business and scientific rigor.</a:t>
            </a:r>
          </a:p>
          <a:p/>
          <a:p>
            <a:r>
              <a:t>The test-prep mental wellness market in India represents a $1.2 Billion total addressable market. Our serviceable market comprises 12 million coaching students, starting with an initial beachhead of 500,000 NEET and JEE droppers. Our dual monetization model leverages B2C freemium subscriptions and B2B institutional licensing to coaching institutes like Allen and Aakash who desperately need student retention and welfare metrics.</a:t>
            </a:r>
          </a:p>
          <a:p/>
          <a:p>
            <a:r>
              <a:t>Critically, Mahiru's empathy is not hallucinated. She is grounded in Hugging Face's Counsel-Chat dataset of licensed therapist responses, Meta's Empathetic Dialogues, and L3Cube-Pune's Hinglish sentiment corpus to fluently decipher student slang like 'kalesh' and 'fati padi hai'. Everything is linked directly with India's official Tele-MANAS national health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(Slide 6 - Live Demo &amp; Conclusion - 30s):</a:t>
            </a:r>
          </a:p>
          <a:p>
            <a:r>
              <a:t>MoodMitra is not a mock-up. It is 100% production-ready, open-source on GitHub, and deployed live on Vercel right now.</a:t>
            </a:r>
          </a:p>
          <a:p/>
          <a:p>
            <a:r>
              <a:t>Every student deserves a safe space to be heard. We invite you to experience Mahiru live right now.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9F2"/>
        </a:solidFill>
        <a:effectLst/>
      </p:bgPr>
    </p:bg>
    <p:spTree>
      <p:nvGrpSpPr>
        <p:cNvPr id="1" name=""/>
        <p:cNvGrpSpPr/>
        <p:nvPr/>
      </p:nvGrpSpPr>
      <p:grpSpPr/>
      <p:sp>
        <p:nvSpPr>
          <p:cNvPr id="2" name="TextBox 1"/>
          <p:cNvSpPr txBox="1"/>
          <p:nvPr/>
        </p:nvSpPr>
        <p:spPr>
          <a:xfrm>
            <a:off x="822960" y="1005840"/>
            <a:ext cx="6949440" cy="4846320"/>
          </a:xfrm>
          <a:prstGeom prst="rect">
            <a:avLst/>
          </a:prstGeom>
          <a:noFill/>
        </p:spPr>
        <p:txBody>
          <a:bodyPr wrap="square" lIns="0" tIns="0" rIns="0" bIns="0">
            <a:spAutoFit/>
          </a:bodyPr>
          <a:lstStyle/>
          <a:p>
            <a:pPr>
              <a:spcAft>
                <a:spcPts val="1200"/>
              </a:spcAft>
              <a:defRPr sz="1050" b="1">
                <a:solidFill>
                  <a:srgbClr val="D9663C"/>
                </a:solidFill>
                <a:latin typeface="Georgia"/>
              </a:defRPr>
            </a:pPr>
            <a:r>
              <a:t>AI FOR HEALTHCARE • STUDENT EMOTIONAL SAFETY &amp; SUICIDE PREVENTION</a:t>
            </a:r>
          </a:p>
          <a:p>
            <a:pPr>
              <a:spcAft>
                <a:spcPts val="600"/>
              </a:spcAft>
              <a:defRPr sz="4400" b="1">
                <a:solidFill>
                  <a:srgbClr val="2C2420"/>
                </a:solidFill>
                <a:latin typeface="Georgia"/>
              </a:defRPr>
            </a:pPr>
            <a:r>
              <a:t>MoodMitra (मुड मित्र)</a:t>
            </a:r>
          </a:p>
          <a:p>
            <a:pPr>
              <a:spcAft>
                <a:spcPts val="1600"/>
              </a:spcAft>
              <a:defRPr sz="1500">
                <a:solidFill>
                  <a:srgbClr val="786A60"/>
                </a:solidFill>
                <a:latin typeface="Arial"/>
              </a:defRPr>
            </a:pPr>
            <a:r>
              <a:t>Autonomous 3D Anime Emotional Companion &amp; Crisis Guardrail for High-Stakes Indian Students</a:t>
            </a:r>
          </a:p>
          <a:p>
            <a:pPr>
              <a:spcAft>
                <a:spcPts val="2000"/>
              </a:spcAft>
              <a:defRPr sz="2000" i="1" b="1">
                <a:solidFill>
                  <a:srgbClr val="D9663C"/>
                </a:solidFill>
                <a:latin typeface="Georgia"/>
              </a:defRPr>
            </a:pPr>
            <a:r>
              <a:t>“Talk. Support. Protect.”</a:t>
            </a:r>
          </a:p>
          <a:p>
            <a:pPr>
              <a:spcAft>
                <a:spcPts val="1600"/>
              </a:spcAft>
              <a:defRPr sz="1150" b="1">
                <a:solidFill>
                  <a:srgbClr val="357568"/>
                </a:solidFill>
                <a:latin typeface="Arial"/>
              </a:defRPr>
            </a:pPr>
            <a:r>
              <a:t>⚡ Sub-2.3s Dual-Engine Voice  |  🎭 Real-Time 3D Lip-Sync  |  🛡️ &lt;1ms Crisis Router</a:t>
            </a:r>
          </a:p>
          <a:p>
            <a:pPr>
              <a:spcAft>
                <a:spcPts val="600"/>
              </a:spcAft>
              <a:defRPr sz="1100">
                <a:solidFill>
                  <a:srgbClr val="786A60"/>
                </a:solidFill>
                <a:latin typeface="Arial"/>
              </a:defRPr>
            </a:pPr>
            <a:r>
              <a:t>Target Audience: 45M+ NEET, JEE &amp; Board Aspirants Across India</a:t>
            </a:r>
          </a:p>
          <a:p>
            <a:pPr>
              <a:defRPr sz="1100" b="1">
                <a:solidFill>
                  <a:srgbClr val="2C2420"/>
                </a:solidFill>
                <a:latin typeface="Arial"/>
              </a:defRPr>
            </a:pPr>
            <a:r>
              <a:t>Team Solo Hacker  •  Live Deployment on Vercel  •  Open-Source on GitHub</a:t>
            </a:r>
          </a:p>
        </p:txBody>
      </p:sp>
      <p:sp>
        <p:nvSpPr>
          <p:cNvPr id="3" name="Rounded Rectangle 2"/>
          <p:cNvSpPr/>
          <p:nvPr/>
        </p:nvSpPr>
        <p:spPr>
          <a:xfrm>
            <a:off x="7955279" y="1005840"/>
            <a:ext cx="3474720" cy="484632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8183879" y="1234440"/>
            <a:ext cx="3017520" cy="3017520"/>
          </a:xfrm>
          <a:prstGeom prst="rect">
            <a:avLst/>
          </a:prstGeom>
        </p:spPr>
      </p:pic>
      <p:sp>
        <p:nvSpPr>
          <p:cNvPr id="5" name="TextBox 4"/>
          <p:cNvSpPr txBox="1"/>
          <p:nvPr/>
        </p:nvSpPr>
        <p:spPr>
          <a:xfrm>
            <a:off x="8092440" y="4389120"/>
            <a:ext cx="3200400" cy="1280160"/>
          </a:xfrm>
          <a:prstGeom prst="rect">
            <a:avLst/>
          </a:prstGeom>
          <a:noFill/>
        </p:spPr>
        <p:txBody>
          <a:bodyPr wrap="square" lIns="0" tIns="0" rIns="0" bIns="0">
            <a:spAutoFit/>
          </a:bodyPr>
          <a:lstStyle/>
          <a:p>
            <a:pPr algn="ctr">
              <a:defRPr sz="1300" b="1">
                <a:solidFill>
                  <a:srgbClr val="2C2420"/>
                </a:solidFill>
                <a:latin typeface="Georgia"/>
              </a:defRPr>
            </a:pPr>
            <a:r>
              <a:t>Mahiru &amp; MoodMitra</a:t>
            </a:r>
          </a:p>
          <a:p>
            <a:pPr algn="ctr">
              <a:defRPr sz="950">
                <a:solidFill>
                  <a:srgbClr val="786A60"/>
                </a:solidFill>
                <a:latin typeface="Arial"/>
              </a:defRPr>
            </a:pPr>
            <a:r>
              <a:t>A safe, culturally relatable anime elder sibling providing 24/7 non-judgmental presence.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9F2"/>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D9663C"/>
                </a:solidFill>
                <a:latin typeface="Georgia"/>
              </a:defRPr>
            </a:pPr>
            <a:r>
              <a:t>01. THE PROBLEM</a:t>
            </a:r>
          </a:p>
        </p:txBody>
      </p:sp>
      <p:sp>
        <p:nvSpPr>
          <p:cNvPr id="3" name="TextBox 2"/>
          <p:cNvSpPr txBox="1"/>
          <p:nvPr/>
        </p:nvSpPr>
        <p:spPr>
          <a:xfrm>
            <a:off x="731520" y="658368"/>
            <a:ext cx="10698480" cy="502920"/>
          </a:xfrm>
          <a:prstGeom prst="rect">
            <a:avLst/>
          </a:prstGeom>
          <a:noFill/>
        </p:spPr>
        <p:txBody>
          <a:bodyPr wrap="square" lIns="0" tIns="0" rIns="0" bIns="0">
            <a:spAutoFit/>
          </a:bodyPr>
          <a:lstStyle/>
          <a:p>
            <a:pPr>
              <a:defRPr sz="2200" b="1">
                <a:solidFill>
                  <a:srgbClr val="2C2420"/>
                </a:solidFill>
                <a:latin typeface="Georgia"/>
              </a:defRPr>
            </a:pPr>
            <a:r>
              <a:t>The Silent Mental Health Crisis Among 45M+ Indian Aspirants</a:t>
            </a:r>
          </a:p>
        </p:txBody>
      </p:sp>
      <p:sp>
        <p:nvSpPr>
          <p:cNvPr id="4" name="TextBox 3"/>
          <p:cNvSpPr txBox="1"/>
          <p:nvPr/>
        </p:nvSpPr>
        <p:spPr>
          <a:xfrm>
            <a:off x="731520" y="1188720"/>
            <a:ext cx="10698480" cy="320040"/>
          </a:xfrm>
          <a:prstGeom prst="rect">
            <a:avLst/>
          </a:prstGeom>
          <a:noFill/>
        </p:spPr>
        <p:txBody>
          <a:bodyPr wrap="square" lIns="0" tIns="0" rIns="0" bIns="0">
            <a:spAutoFit/>
          </a:bodyPr>
          <a:lstStyle/>
          <a:p>
            <a:pPr>
              <a:defRPr sz="1100">
                <a:solidFill>
                  <a:srgbClr val="786A60"/>
                </a:solidFill>
                <a:latin typeface="Arial"/>
              </a:defRPr>
            </a:pPr>
            <a:r>
              <a:t>High-stakes competitive exam culture (NEET, JEE, Boards) leaves students isolated, burned out, and defenseless.</a:t>
            </a:r>
          </a:p>
        </p:txBody>
      </p:sp>
      <p:sp>
        <p:nvSpPr>
          <p:cNvPr id="5" name="Rounded Rectangle 4"/>
          <p:cNvSpPr/>
          <p:nvPr/>
        </p:nvSpPr>
        <p:spPr>
          <a:xfrm>
            <a:off x="731520" y="1645920"/>
            <a:ext cx="3291840" cy="4663440"/>
          </a:xfrm>
          <a:prstGeom prst="roundRect">
            <a:avLst/>
          </a:prstGeom>
          <a:solidFill>
            <a:srgbClr val="FFFFFF"/>
          </a:solidFill>
          <a:ln w="19050">
            <a:solidFill>
              <a:srgbClr val="E6C8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hiru_concerned.png"/>
          <p:cNvPicPr>
            <a:picLocks noChangeAspect="1"/>
          </p:cNvPicPr>
          <p:nvPr/>
        </p:nvPicPr>
        <p:blipFill>
          <a:blip r:embed="rId2"/>
          <a:stretch>
            <a:fillRect/>
          </a:stretch>
        </p:blipFill>
        <p:spPr>
          <a:xfrm>
            <a:off x="914400" y="1828800"/>
            <a:ext cx="2926080" cy="3108960"/>
          </a:xfrm>
          <a:prstGeom prst="rect">
            <a:avLst/>
          </a:prstGeom>
        </p:spPr>
      </p:pic>
      <p:sp>
        <p:nvSpPr>
          <p:cNvPr id="7" name="TextBox 6"/>
          <p:cNvSpPr txBox="1"/>
          <p:nvPr/>
        </p:nvSpPr>
        <p:spPr>
          <a:xfrm>
            <a:off x="914400" y="5029200"/>
            <a:ext cx="2926080" cy="1097280"/>
          </a:xfrm>
          <a:prstGeom prst="rect">
            <a:avLst/>
          </a:prstGeom>
          <a:noFill/>
        </p:spPr>
        <p:txBody>
          <a:bodyPr wrap="square" lIns="0" tIns="0" rIns="0" bIns="0">
            <a:spAutoFit/>
          </a:bodyPr>
          <a:lstStyle/>
          <a:p>
            <a:pPr>
              <a:defRPr sz="1050" b="1" i="1">
                <a:solidFill>
                  <a:srgbClr val="C0392B"/>
                </a:solidFill>
                <a:latin typeface="Georgia"/>
              </a:defRPr>
            </a:pPr>
            <a:r>
              <a:t>“Ghar me kalesh ho gaya...</a:t>
            </a:r>
            <a:br/>
            <a:r>
              <a:t>meri fati padi hai, I can't take this anymore.”</a:t>
            </a:r>
          </a:p>
          <a:p>
            <a:pPr>
              <a:spcBef>
                <a:spcPts val="400"/>
              </a:spcBef>
              <a:defRPr sz="900">
                <a:solidFill>
                  <a:srgbClr val="786A60"/>
                </a:solidFill>
                <a:latin typeface="Arial"/>
              </a:defRPr>
            </a:pPr>
            <a:r>
              <a:t>— Actual student distress query from Kota coaching forums</a:t>
            </a:r>
          </a:p>
        </p:txBody>
      </p:sp>
      <p:sp>
        <p:nvSpPr>
          <p:cNvPr id="8" name="Rounded Rectangle 7"/>
          <p:cNvSpPr/>
          <p:nvPr/>
        </p:nvSpPr>
        <p:spPr>
          <a:xfrm>
            <a:off x="4206240" y="1645920"/>
            <a:ext cx="7223760" cy="14630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755648"/>
            <a:ext cx="6858000" cy="1243584"/>
          </a:xfrm>
          <a:prstGeom prst="rect">
            <a:avLst/>
          </a:prstGeom>
          <a:noFill/>
        </p:spPr>
        <p:txBody>
          <a:bodyPr wrap="square" lIns="0" tIns="0" rIns="0" bIns="0">
            <a:spAutoFit/>
          </a:bodyPr>
          <a:lstStyle/>
          <a:p>
            <a:pPr>
              <a:spcAft>
                <a:spcPts val="200"/>
              </a:spcAft>
              <a:defRPr sz="1250" b="1">
                <a:solidFill>
                  <a:srgbClr val="D9663C"/>
                </a:solidFill>
                <a:latin typeface="Georgia"/>
              </a:defRPr>
            </a:pPr>
            <a:r>
              <a:t>🚨 PROBLEM 01: Academic Pressure &amp; Severe Burnout</a:t>
            </a:r>
          </a:p>
          <a:p>
            <a:pPr>
              <a:spcAft>
                <a:spcPts val="300"/>
              </a:spcAft>
              <a:defRPr sz="1050" b="1">
                <a:solidFill>
                  <a:srgbClr val="2C2420"/>
                </a:solidFill>
                <a:latin typeface="Arial"/>
              </a:defRPr>
            </a:pPr>
            <a:r>
              <a:t>KEY METRIC: 86% — report extreme anxiety (2.4x depression spike)</a:t>
            </a:r>
          </a:p>
          <a:p>
            <a:pPr>
              <a:defRPr sz="950">
                <a:solidFill>
                  <a:srgbClr val="786A60"/>
                </a:solidFill>
                <a:latin typeface="Arial"/>
              </a:defRPr>
            </a:pPr>
            <a:r>
              <a:t>2.4M NEET &amp; 1.2M JEE aspirants competing for &lt;1% seats in Kota and Delhi. Fear of mock failure and family shame triggers acute panic attacks.</a:t>
            </a:r>
          </a:p>
        </p:txBody>
      </p:sp>
      <p:sp>
        <p:nvSpPr>
          <p:cNvPr id="10" name="Rounded Rectangle 9"/>
          <p:cNvSpPr/>
          <p:nvPr/>
        </p:nvSpPr>
        <p:spPr>
          <a:xfrm>
            <a:off x="4206240" y="3227832"/>
            <a:ext cx="7223760" cy="14630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3337560"/>
            <a:ext cx="6858000" cy="1243584"/>
          </a:xfrm>
          <a:prstGeom prst="rect">
            <a:avLst/>
          </a:prstGeom>
          <a:noFill/>
        </p:spPr>
        <p:txBody>
          <a:bodyPr wrap="square" lIns="0" tIns="0" rIns="0" bIns="0">
            <a:spAutoFit/>
          </a:bodyPr>
          <a:lstStyle/>
          <a:p>
            <a:pPr>
              <a:spcAft>
                <a:spcPts val="200"/>
              </a:spcAft>
              <a:defRPr sz="1250" b="1">
                <a:solidFill>
                  <a:srgbClr val="D9663C"/>
                </a:solidFill>
                <a:latin typeface="Georgia"/>
              </a:defRPr>
            </a:pPr>
            <a:r>
              <a:t>🤖 PROBLEM 02: Generic AI 'Toxic Positivity' &amp; Vernacular Blindness</a:t>
            </a:r>
          </a:p>
          <a:p>
            <a:pPr>
              <a:spcAft>
                <a:spcPts val="300"/>
              </a:spcAft>
              <a:defRPr sz="1050" b="1">
                <a:solidFill>
                  <a:srgbClr val="2C2420"/>
                </a:solidFill>
                <a:latin typeface="Arial"/>
              </a:defRPr>
            </a:pPr>
            <a:r>
              <a:t>KEY METRIC: 92% — dismiss generic chatbots as cold &amp; unhelpful</a:t>
            </a:r>
          </a:p>
          <a:p>
            <a:pPr>
              <a:defRPr sz="950">
                <a:solidFill>
                  <a:srgbClr val="786A60"/>
                </a:solidFill>
                <a:latin typeface="Arial"/>
              </a:defRPr>
            </a:pPr>
            <a:r>
              <a:t>ChatGPT and generic LLMs offer unhelpful cheerleading ('Cheer up! You can do it!') and fail to understand Hinglish slang like 'kalesh', 'fati padi hai', or 'drame'.</a:t>
            </a:r>
          </a:p>
        </p:txBody>
      </p:sp>
      <p:sp>
        <p:nvSpPr>
          <p:cNvPr id="12" name="Rounded Rectangle 11"/>
          <p:cNvSpPr/>
          <p:nvPr/>
        </p:nvSpPr>
        <p:spPr>
          <a:xfrm>
            <a:off x="4206240" y="4809744"/>
            <a:ext cx="7223760" cy="14630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4919472"/>
            <a:ext cx="6858000" cy="1243584"/>
          </a:xfrm>
          <a:prstGeom prst="rect">
            <a:avLst/>
          </a:prstGeom>
          <a:noFill/>
        </p:spPr>
        <p:txBody>
          <a:bodyPr wrap="square" lIns="0" tIns="0" rIns="0" bIns="0">
            <a:spAutoFit/>
          </a:bodyPr>
          <a:lstStyle/>
          <a:p>
            <a:pPr>
              <a:spcAft>
                <a:spcPts val="200"/>
              </a:spcAft>
              <a:defRPr sz="1250" b="1">
                <a:solidFill>
                  <a:srgbClr val="D9663C"/>
                </a:solidFill>
                <a:latin typeface="Georgia"/>
              </a:defRPr>
            </a:pPr>
            <a:r>
              <a:t>⏳ PROBLEM 03: Disembodiment &amp; Fatal Latency Gap</a:t>
            </a:r>
          </a:p>
          <a:p>
            <a:pPr>
              <a:spcAft>
                <a:spcPts val="300"/>
              </a:spcAft>
              <a:defRPr sz="1050" b="1">
                <a:solidFill>
                  <a:srgbClr val="2C2420"/>
                </a:solidFill>
                <a:latin typeface="Arial"/>
              </a:defRPr>
            </a:pPr>
            <a:r>
              <a:t>KEY METRIC: &gt;8.5s — typical voice roundtrip latency in current apps</a:t>
            </a:r>
          </a:p>
          <a:p>
            <a:pPr>
              <a:defRPr sz="950">
                <a:solidFill>
                  <a:srgbClr val="786A60"/>
                </a:solidFill>
                <a:latin typeface="Arial"/>
              </a:defRPr>
            </a:pPr>
            <a:r>
              <a:t>Text-only screens offer zero physical co-regulation or warmth. Laggy voice assistants destroy trust when a panicking student needs immediate grounding.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9F2"/>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D9663C"/>
                </a:solidFill>
                <a:latin typeface="Georgia"/>
              </a:defRPr>
            </a:pPr>
            <a:r>
              <a:t>02. THE SOLUTION</a:t>
            </a:r>
          </a:p>
        </p:txBody>
      </p:sp>
      <p:sp>
        <p:nvSpPr>
          <p:cNvPr id="3" name="TextBox 2"/>
          <p:cNvSpPr txBox="1"/>
          <p:nvPr/>
        </p:nvSpPr>
        <p:spPr>
          <a:xfrm>
            <a:off x="731520" y="658368"/>
            <a:ext cx="10698480" cy="502920"/>
          </a:xfrm>
          <a:prstGeom prst="rect">
            <a:avLst/>
          </a:prstGeom>
          <a:noFill/>
        </p:spPr>
        <p:txBody>
          <a:bodyPr wrap="square" lIns="0" tIns="0" rIns="0" bIns="0">
            <a:spAutoFit/>
          </a:bodyPr>
          <a:lstStyle/>
          <a:p>
            <a:pPr>
              <a:defRPr sz="2200" b="1">
                <a:solidFill>
                  <a:srgbClr val="2C2420"/>
                </a:solidFill>
                <a:latin typeface="Georgia"/>
              </a:defRPr>
            </a:pPr>
            <a:r>
              <a:t>MoodMitra: Embodied AI Sibling with 3-Stage Clinical Empathy</a:t>
            </a:r>
          </a:p>
        </p:txBody>
      </p:sp>
      <p:sp>
        <p:nvSpPr>
          <p:cNvPr id="4" name="TextBox 3"/>
          <p:cNvSpPr txBox="1"/>
          <p:nvPr/>
        </p:nvSpPr>
        <p:spPr>
          <a:xfrm>
            <a:off x="731520" y="1188720"/>
            <a:ext cx="10698480" cy="320040"/>
          </a:xfrm>
          <a:prstGeom prst="rect">
            <a:avLst/>
          </a:prstGeom>
          <a:noFill/>
        </p:spPr>
        <p:txBody>
          <a:bodyPr wrap="square" lIns="0" tIns="0" rIns="0" bIns="0">
            <a:spAutoFit/>
          </a:bodyPr>
          <a:lstStyle/>
          <a:p>
            <a:pPr>
              <a:defRPr sz="1100">
                <a:solidFill>
                  <a:srgbClr val="786A60"/>
                </a:solidFill>
                <a:latin typeface="Arial"/>
              </a:defRPr>
            </a:pPr>
            <a:r>
              <a:t>Bridging 3D physical co-regulation, verified therapeutic grounding, and deterministic crisis escalation.</a:t>
            </a:r>
          </a:p>
        </p:txBody>
      </p:sp>
      <p:sp>
        <p:nvSpPr>
          <p:cNvPr id="5" name="Rounded Rectangle 4"/>
          <p:cNvSpPr/>
          <p:nvPr/>
        </p:nvSpPr>
        <p:spPr>
          <a:xfrm>
            <a:off x="731520" y="1645920"/>
            <a:ext cx="5303520" cy="14630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55648"/>
            <a:ext cx="4937760" cy="1243584"/>
          </a:xfrm>
          <a:prstGeom prst="rect">
            <a:avLst/>
          </a:prstGeom>
          <a:noFill/>
        </p:spPr>
        <p:txBody>
          <a:bodyPr wrap="square" lIns="0" tIns="0" rIns="0" bIns="0">
            <a:spAutoFit/>
          </a:bodyPr>
          <a:lstStyle/>
          <a:p>
            <a:pPr>
              <a:spcAft>
                <a:spcPts val="200"/>
              </a:spcAft>
              <a:defRPr sz="1000" b="1">
                <a:solidFill>
                  <a:srgbClr val="D9663C"/>
                </a:solidFill>
                <a:latin typeface="Georgia"/>
              </a:defRPr>
            </a:pPr>
            <a:r>
              <a:t>🎭 PILLAR 1: EMBODIED 3D COMPANION</a:t>
            </a:r>
          </a:p>
          <a:p>
            <a:pPr>
              <a:spcAft>
                <a:spcPts val="300"/>
              </a:spcAft>
              <a:defRPr sz="1250" b="1">
                <a:solidFill>
                  <a:srgbClr val="2C2420"/>
                </a:solidFill>
                <a:latin typeface="Georgia"/>
              </a:defRPr>
            </a:pPr>
            <a:r>
              <a:t>3D VRM Avatar Biomechanics (Mahiru)</a:t>
            </a:r>
          </a:p>
          <a:p>
            <a:pPr>
              <a:spcAft>
                <a:spcPts val="150"/>
              </a:spcAft>
              <a:defRPr sz="900">
                <a:solidFill>
                  <a:srgbClr val="786A60"/>
                </a:solidFill>
                <a:latin typeface="Arial"/>
              </a:defRPr>
            </a:pPr>
            <a:r>
              <a:t>• Wide Sparkling Eyes &amp; Smile: Overcomes VRM joy slits with custom blendshape kinematics.</a:t>
            </a:r>
          </a:p>
          <a:p>
            <a:pPr>
              <a:spcAft>
                <a:spcPts val="150"/>
              </a:spcAft>
              <a:defRPr sz="900">
                <a:solidFill>
                  <a:srgbClr val="786A60"/>
                </a:solidFill>
                <a:latin typeface="Arial"/>
              </a:defRPr>
            </a:pPr>
            <a:r>
              <a:t>• Somatic 4-7-8 Breathing Motion: Real-time chest expansion sinusoidal curves guide panic recovery.</a:t>
            </a:r>
          </a:p>
          <a:p>
            <a:pPr>
              <a:spcAft>
                <a:spcPts val="150"/>
              </a:spcAft>
              <a:defRPr sz="900">
                <a:solidFill>
                  <a:srgbClr val="786A60"/>
                </a:solidFill>
                <a:latin typeface="Arial"/>
              </a:defRPr>
            </a:pPr>
            <a:r>
              <a:t>• Sample-Accurate Lip-Sync: Web Audio FFT Analyser drives mouth morphs (A, I, O) in real-time.</a:t>
            </a:r>
          </a:p>
        </p:txBody>
      </p:sp>
      <p:sp>
        <p:nvSpPr>
          <p:cNvPr id="7" name="Rounded Rectangle 6"/>
          <p:cNvSpPr/>
          <p:nvPr/>
        </p:nvSpPr>
        <p:spPr>
          <a:xfrm>
            <a:off x="731520" y="3227832"/>
            <a:ext cx="5303520" cy="14630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337560"/>
            <a:ext cx="4937760" cy="1243584"/>
          </a:xfrm>
          <a:prstGeom prst="rect">
            <a:avLst/>
          </a:prstGeom>
          <a:noFill/>
        </p:spPr>
        <p:txBody>
          <a:bodyPr wrap="square" lIns="0" tIns="0" rIns="0" bIns="0">
            <a:spAutoFit/>
          </a:bodyPr>
          <a:lstStyle/>
          <a:p>
            <a:pPr>
              <a:spcAft>
                <a:spcPts val="200"/>
              </a:spcAft>
              <a:defRPr sz="1000" b="1">
                <a:solidFill>
                  <a:srgbClr val="D9663C"/>
                </a:solidFill>
                <a:latin typeface="Georgia"/>
              </a:defRPr>
            </a:pPr>
            <a:r>
              <a:t>🧠 PILLAR 2: CLINICAL EMPATHY</a:t>
            </a:r>
          </a:p>
          <a:p>
            <a:pPr>
              <a:spcAft>
                <a:spcPts val="300"/>
              </a:spcAft>
              <a:defRPr sz="1250" b="1">
                <a:solidFill>
                  <a:srgbClr val="2C2420"/>
                </a:solidFill>
                <a:latin typeface="Georgia"/>
              </a:defRPr>
            </a:pPr>
            <a:r>
              <a:t>3-Stage Validation Protocol</a:t>
            </a:r>
          </a:p>
          <a:p>
            <a:pPr>
              <a:spcAft>
                <a:spcPts val="150"/>
              </a:spcAft>
              <a:defRPr sz="900">
                <a:solidFill>
                  <a:srgbClr val="786A60"/>
                </a:solidFill>
                <a:latin typeface="Arial"/>
              </a:defRPr>
            </a:pPr>
            <a:r>
              <a:t>• Validation First: Validates hurt and revision burnout without toxic cheerleading.</a:t>
            </a:r>
          </a:p>
          <a:p>
            <a:pPr>
              <a:spcAft>
                <a:spcPts val="150"/>
              </a:spcAft>
              <a:defRPr sz="900">
                <a:solidFill>
                  <a:srgbClr val="786A60"/>
                </a:solidFill>
                <a:latin typeface="Arial"/>
              </a:defRPr>
            </a:pPr>
            <a:r>
              <a:t>• Cognitive Reframing: Reframes mock tests as diagnostic tools, not identity verdicts.</a:t>
            </a:r>
          </a:p>
          <a:p>
            <a:pPr>
              <a:spcAft>
                <a:spcPts val="150"/>
              </a:spcAft>
              <a:defRPr sz="900">
                <a:solidFill>
                  <a:srgbClr val="786A60"/>
                </a:solidFill>
                <a:latin typeface="Arial"/>
              </a:defRPr>
            </a:pPr>
            <a:r>
              <a:t>• Micro-Action: Prescribes 1 manageable step (drink water, review 2 errors). Under 45 words.</a:t>
            </a:r>
          </a:p>
        </p:txBody>
      </p:sp>
      <p:sp>
        <p:nvSpPr>
          <p:cNvPr id="9" name="Rounded Rectangle 8"/>
          <p:cNvSpPr/>
          <p:nvPr/>
        </p:nvSpPr>
        <p:spPr>
          <a:xfrm>
            <a:off x="731520" y="4809744"/>
            <a:ext cx="5303520" cy="14630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919472"/>
            <a:ext cx="4937760" cy="1243584"/>
          </a:xfrm>
          <a:prstGeom prst="rect">
            <a:avLst/>
          </a:prstGeom>
          <a:noFill/>
        </p:spPr>
        <p:txBody>
          <a:bodyPr wrap="square" lIns="0" tIns="0" rIns="0" bIns="0">
            <a:spAutoFit/>
          </a:bodyPr>
          <a:lstStyle/>
          <a:p>
            <a:pPr>
              <a:spcAft>
                <a:spcPts val="200"/>
              </a:spcAft>
              <a:defRPr sz="1000" b="1">
                <a:solidFill>
                  <a:srgbClr val="D9663C"/>
                </a:solidFill>
                <a:latin typeface="Georgia"/>
              </a:defRPr>
            </a:pPr>
            <a:r>
              <a:t>🛡️ PILLAR 3: DETERMINISTIC SAFETY</a:t>
            </a:r>
          </a:p>
          <a:p>
            <a:pPr>
              <a:spcAft>
                <a:spcPts val="300"/>
              </a:spcAft>
              <a:defRPr sz="1250" b="1">
                <a:solidFill>
                  <a:srgbClr val="2C2420"/>
                </a:solidFill>
                <a:latin typeface="Georgia"/>
              </a:defRPr>
            </a:pPr>
            <a:r>
              <a:t>Deterministic Crisis Router (&lt;1ms)</a:t>
            </a:r>
          </a:p>
          <a:p>
            <a:pPr>
              <a:spcAft>
                <a:spcPts val="150"/>
              </a:spcAft>
              <a:defRPr sz="900">
                <a:solidFill>
                  <a:srgbClr val="786A60"/>
                </a:solidFill>
                <a:latin typeface="Arial"/>
              </a:defRPr>
            </a:pPr>
            <a:r>
              <a:t>• Zero-Asking Escalation: Fast-path bypasses LLM queue in &lt;1ms on self-harm keywords.</a:t>
            </a:r>
          </a:p>
          <a:p>
            <a:pPr>
              <a:spcAft>
                <a:spcPts val="150"/>
              </a:spcAft>
              <a:defRPr sz="900">
                <a:solidFill>
                  <a:srgbClr val="786A60"/>
                </a:solidFill>
                <a:latin typeface="Arial"/>
              </a:defRPr>
            </a:pPr>
            <a:r>
              <a:t>• Tele-MANAS 14416 Lock: 1-click toll-free Govt. of India mental health helpline dialing.</a:t>
            </a:r>
          </a:p>
          <a:p>
            <a:pPr>
              <a:spcAft>
                <a:spcPts val="150"/>
              </a:spcAft>
              <a:defRPr sz="900">
                <a:solidFill>
                  <a:srgbClr val="786A60"/>
                </a:solidFill>
                <a:latin typeface="Arial"/>
              </a:defRPr>
            </a:pPr>
            <a:r>
              <a:t>• Auto-SOS to Parents: Multi-channel WhatsApp &amp; SMS emergency check-in dispatched instantly.</a:t>
            </a:r>
          </a:p>
        </p:txBody>
      </p:sp>
      <p:sp>
        <p:nvSpPr>
          <p:cNvPr id="11" name="Rounded Rectangle 10"/>
          <p:cNvSpPr/>
          <p:nvPr/>
        </p:nvSpPr>
        <p:spPr>
          <a:xfrm>
            <a:off x="6217920" y="1645920"/>
            <a:ext cx="5212080" cy="4663440"/>
          </a:xfrm>
          <a:prstGeom prst="roundRect">
            <a:avLst/>
          </a:prstGeom>
          <a:solidFill>
            <a:srgbClr val="FFFFFF"/>
          </a:solidFill>
          <a:ln w="19050">
            <a:solidFill>
              <a:srgbClr val="D2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ahiru_3d_loaded_1789289701474.png"/>
          <p:cNvPicPr>
            <a:picLocks noChangeAspect="1"/>
          </p:cNvPicPr>
          <p:nvPr/>
        </p:nvPicPr>
        <p:blipFill>
          <a:blip r:embed="rId2"/>
          <a:stretch>
            <a:fillRect/>
          </a:stretch>
        </p:blipFill>
        <p:spPr>
          <a:xfrm>
            <a:off x="6355080" y="1783080"/>
            <a:ext cx="4937760" cy="2496312"/>
          </a:xfrm>
          <a:prstGeom prst="rect">
            <a:avLst/>
          </a:prstGeom>
        </p:spPr>
      </p:pic>
      <p:sp>
        <p:nvSpPr>
          <p:cNvPr id="13" name="TextBox 12"/>
          <p:cNvSpPr txBox="1"/>
          <p:nvPr/>
        </p:nvSpPr>
        <p:spPr>
          <a:xfrm>
            <a:off x="6400800" y="4389120"/>
            <a:ext cx="4846320" cy="1737360"/>
          </a:xfrm>
          <a:prstGeom prst="rect">
            <a:avLst/>
          </a:prstGeom>
          <a:noFill/>
        </p:spPr>
        <p:txBody>
          <a:bodyPr wrap="square" lIns="0" tIns="0" rIns="0" bIns="0">
            <a:spAutoFit/>
          </a:bodyPr>
          <a:lstStyle/>
          <a:p>
            <a:pPr>
              <a:spcAft>
                <a:spcPts val="400"/>
              </a:spcAft>
              <a:defRPr sz="1100" b="1">
                <a:solidFill>
                  <a:srgbClr val="357568"/>
                </a:solidFill>
                <a:latin typeface="Georgia"/>
              </a:defRPr>
            </a:pPr>
            <a:r>
              <a:t>LIVE EMBODIED 3D APPLICATION (PRODUCTION)</a:t>
            </a:r>
          </a:p>
          <a:p>
            <a:pPr>
              <a:defRPr sz="950">
                <a:solidFill>
                  <a:srgbClr val="2C2420"/>
                </a:solidFill>
                <a:latin typeface="Arial"/>
              </a:defRPr>
            </a:pPr>
            <a:r>
              <a:t>• Mahiru 3D Avatar: WebGL Three.js canvas running real-time kinematics and lip-sync.</a:t>
            </a:r>
            <a:br/>
            <a:r>
              <a:t>• Live 'Voice Call' Mode: Hands-free back-and-forth dialogue with 800ms silence VAD.</a:t>
            </a:r>
            <a:br/>
            <a:r>
              <a:t>• Judge Preset Demos: Built-in Quick Pitch, Panic Attack, and Crisis Guardrail triggers.</a:t>
            </a:r>
            <a:br/>
            <a:r>
              <a:t>• 100% Speech-Text Parity: Every word spoken aloud at 24kHz with zero delay gap.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9F2"/>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D9663C"/>
                </a:solidFill>
                <a:latin typeface="Georgia"/>
              </a:defRPr>
            </a:pPr>
            <a:r>
              <a:t>03. TECH STACK &amp; ARCHITECTURE</a:t>
            </a:r>
          </a:p>
        </p:txBody>
      </p:sp>
      <p:sp>
        <p:nvSpPr>
          <p:cNvPr id="3" name="TextBox 2"/>
          <p:cNvSpPr txBox="1"/>
          <p:nvPr/>
        </p:nvSpPr>
        <p:spPr>
          <a:xfrm>
            <a:off x="731520" y="658368"/>
            <a:ext cx="10698480" cy="502920"/>
          </a:xfrm>
          <a:prstGeom prst="rect">
            <a:avLst/>
          </a:prstGeom>
          <a:noFill/>
        </p:spPr>
        <p:txBody>
          <a:bodyPr wrap="square" lIns="0" tIns="0" rIns="0" bIns="0">
            <a:spAutoFit/>
          </a:bodyPr>
          <a:lstStyle/>
          <a:p>
            <a:pPr>
              <a:defRPr sz="2200" b="1">
                <a:solidFill>
                  <a:srgbClr val="2C2420"/>
                </a:solidFill>
                <a:latin typeface="Georgia"/>
              </a:defRPr>
            </a:pPr>
            <a:r>
              <a:t>Dual-Engine Pipeline Delivering Sub-2.3s Latency</a:t>
            </a:r>
          </a:p>
        </p:txBody>
      </p:sp>
      <p:sp>
        <p:nvSpPr>
          <p:cNvPr id="4" name="TextBox 3"/>
          <p:cNvSpPr txBox="1"/>
          <p:nvPr/>
        </p:nvSpPr>
        <p:spPr>
          <a:xfrm>
            <a:off x="731520" y="1188720"/>
            <a:ext cx="10698480" cy="320040"/>
          </a:xfrm>
          <a:prstGeom prst="rect">
            <a:avLst/>
          </a:prstGeom>
          <a:noFill/>
        </p:spPr>
        <p:txBody>
          <a:bodyPr wrap="square" lIns="0" tIns="0" rIns="0" bIns="0">
            <a:spAutoFit/>
          </a:bodyPr>
          <a:lstStyle/>
          <a:p>
            <a:pPr>
              <a:defRPr sz="1100">
                <a:solidFill>
                  <a:srgbClr val="786A60"/>
                </a:solidFill>
                <a:latin typeface="Arial"/>
              </a:defRPr>
            </a:pPr>
            <a:r>
              <a:t>Serverless Next.js 16 App Router orchestrating parallel AI models with zero server overhead.</a:t>
            </a:r>
          </a:p>
        </p:txBody>
      </p:sp>
      <p:sp>
        <p:nvSpPr>
          <p:cNvPr id="5" name="Rounded Rectangle 4"/>
          <p:cNvSpPr/>
          <p:nvPr/>
        </p:nvSpPr>
        <p:spPr>
          <a:xfrm>
            <a:off x="731520" y="1645920"/>
            <a:ext cx="5212080" cy="164592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55648"/>
            <a:ext cx="4846320" cy="1426464"/>
          </a:xfrm>
          <a:prstGeom prst="rect">
            <a:avLst/>
          </a:prstGeom>
          <a:noFill/>
        </p:spPr>
        <p:txBody>
          <a:bodyPr wrap="square" lIns="0" tIns="0" rIns="0" bIns="0">
            <a:spAutoFit/>
          </a:bodyPr>
          <a:lstStyle/>
          <a:p>
            <a:pPr>
              <a:spcAft>
                <a:spcPts val="200"/>
              </a:spcAft>
              <a:defRPr sz="950" b="1">
                <a:solidFill>
                  <a:srgbClr val="D9663C"/>
                </a:solidFill>
                <a:latin typeface="Georgia"/>
              </a:defRPr>
            </a:pPr>
            <a:r>
              <a:t>LAYER 1 • CLIENT &amp; KINEMATICS  [Client-Side Engine]</a:t>
            </a:r>
          </a:p>
          <a:p>
            <a:pPr>
              <a:spcAft>
                <a:spcPts val="400"/>
              </a:spcAft>
              <a:defRPr sz="1200" b="1">
                <a:solidFill>
                  <a:srgbClr val="2C2420"/>
                </a:solidFill>
                <a:latin typeface="Arial"/>
              </a:defRPr>
            </a:pPr>
            <a:r>
              <a:t>Next.js 16 • Three.js • @pixiv/three-vrm • Web Audio API</a:t>
            </a:r>
          </a:p>
          <a:p>
            <a:pPr>
              <a:spcAft>
                <a:spcPts val="150"/>
              </a:spcAft>
              <a:defRPr sz="880">
                <a:solidFill>
                  <a:srgbClr val="786A60"/>
                </a:solidFill>
                <a:latin typeface="Arial"/>
              </a:defRPr>
            </a:pPr>
            <a:r>
              <a:t>• Client-Side Energy VAD (Silero-inspired) with 800ms auto-silence cutoff.</a:t>
            </a:r>
          </a:p>
          <a:p>
            <a:pPr>
              <a:spcAft>
                <a:spcPts val="150"/>
              </a:spcAft>
              <a:defRPr sz="880">
                <a:solidFill>
                  <a:srgbClr val="786A60"/>
                </a:solidFill>
                <a:latin typeface="Arial"/>
              </a:defRPr>
            </a:pPr>
            <a:r>
              <a:t>• Web Audio FFT AnalyserNode feeding real-time mouth morph blendshapes.</a:t>
            </a:r>
          </a:p>
          <a:p>
            <a:pPr>
              <a:spcAft>
                <a:spcPts val="150"/>
              </a:spcAft>
              <a:defRPr sz="880">
                <a:solidFill>
                  <a:srgbClr val="786A60"/>
                </a:solidFill>
                <a:latin typeface="Arial"/>
              </a:defRPr>
            </a:pPr>
            <a:r>
              <a:t>• Continuous hands-free 'Live Voice Call' toggle with barge-in interruption.</a:t>
            </a:r>
          </a:p>
        </p:txBody>
      </p:sp>
      <p:sp>
        <p:nvSpPr>
          <p:cNvPr id="7" name="Rounded Rectangle 6"/>
          <p:cNvSpPr/>
          <p:nvPr/>
        </p:nvSpPr>
        <p:spPr>
          <a:xfrm>
            <a:off x="6217920" y="1645920"/>
            <a:ext cx="5212080" cy="164592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55648"/>
            <a:ext cx="4846320" cy="1426464"/>
          </a:xfrm>
          <a:prstGeom prst="rect">
            <a:avLst/>
          </a:prstGeom>
          <a:noFill/>
        </p:spPr>
        <p:txBody>
          <a:bodyPr wrap="square" lIns="0" tIns="0" rIns="0" bIns="0">
            <a:spAutoFit/>
          </a:bodyPr>
          <a:lstStyle/>
          <a:p>
            <a:pPr>
              <a:spcAft>
                <a:spcPts val="200"/>
              </a:spcAft>
              <a:defRPr sz="950" b="1">
                <a:solidFill>
                  <a:srgbClr val="D9663C"/>
                </a:solidFill>
                <a:latin typeface="Georgia"/>
              </a:defRPr>
            </a:pPr>
            <a:r>
              <a:t>LAYER 2 • COGNITIVE BRAIN &amp; STT  [&lt;180ms Inference]</a:t>
            </a:r>
          </a:p>
          <a:p>
            <a:pPr>
              <a:spcAft>
                <a:spcPts val="400"/>
              </a:spcAft>
              <a:defRPr sz="1200" b="1">
                <a:solidFill>
                  <a:srgbClr val="2C2420"/>
                </a:solidFill>
                <a:latin typeface="Arial"/>
              </a:defRPr>
            </a:pPr>
            <a:r>
              <a:t>Groq Llama 3.3 70B &amp; Whisper Large-v3-Turbo</a:t>
            </a:r>
          </a:p>
          <a:p>
            <a:pPr>
              <a:spcAft>
                <a:spcPts val="150"/>
              </a:spcAft>
              <a:defRPr sz="880">
                <a:solidFill>
                  <a:srgbClr val="786A60"/>
                </a:solidFill>
                <a:latin typeface="Arial"/>
              </a:defRPr>
            </a:pPr>
            <a:r>
              <a:t>• Sub-150ms Speech-to-Text with automatic WAV/WEBM format sniffing.</a:t>
            </a:r>
          </a:p>
          <a:p>
            <a:pPr>
              <a:spcAft>
                <a:spcPts val="150"/>
              </a:spcAft>
              <a:defRPr sz="880">
                <a:solidFill>
                  <a:srgbClr val="786A60"/>
                </a:solidFill>
                <a:latin typeface="Arial"/>
              </a:defRPr>
            </a:pPr>
            <a:r>
              <a:t>• 350-Token Strict Groq Budget ensures punchy, natural spoken cadence.</a:t>
            </a:r>
          </a:p>
          <a:p>
            <a:pPr>
              <a:spcAft>
                <a:spcPts val="150"/>
              </a:spcAft>
              <a:defRPr sz="880">
                <a:solidFill>
                  <a:srgbClr val="786A60"/>
                </a:solidFill>
                <a:latin typeface="Arial"/>
              </a:defRPr>
            </a:pPr>
            <a:r>
              <a:t>• Fine-tuned context prompt specializing in Indian competitive exams.</a:t>
            </a:r>
          </a:p>
        </p:txBody>
      </p:sp>
      <p:sp>
        <p:nvSpPr>
          <p:cNvPr id="9" name="Rounded Rectangle 8"/>
          <p:cNvSpPr/>
          <p:nvPr/>
        </p:nvSpPr>
        <p:spPr>
          <a:xfrm>
            <a:off x="731520" y="3429000"/>
            <a:ext cx="5212080" cy="164592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38728"/>
            <a:ext cx="4846320" cy="1426464"/>
          </a:xfrm>
          <a:prstGeom prst="rect">
            <a:avLst/>
          </a:prstGeom>
          <a:noFill/>
        </p:spPr>
        <p:txBody>
          <a:bodyPr wrap="square" lIns="0" tIns="0" rIns="0" bIns="0">
            <a:spAutoFit/>
          </a:bodyPr>
          <a:lstStyle/>
          <a:p>
            <a:pPr>
              <a:spcAft>
                <a:spcPts val="200"/>
              </a:spcAft>
              <a:defRPr sz="950" b="1">
                <a:solidFill>
                  <a:srgbClr val="D9663C"/>
                </a:solidFill>
                <a:latin typeface="Georgia"/>
              </a:defRPr>
            </a:pPr>
            <a:r>
              <a:t>LAYER 3 • KINEMATIC GESTURE DIRECTOR  [Parallel Co-Director]</a:t>
            </a:r>
          </a:p>
          <a:p>
            <a:pPr>
              <a:spcAft>
                <a:spcPts val="400"/>
              </a:spcAft>
              <a:defRPr sz="1200" b="1">
                <a:solidFill>
                  <a:srgbClr val="2C2420"/>
                </a:solidFill>
                <a:latin typeface="Arial"/>
              </a:defRPr>
            </a:pPr>
            <a:r>
              <a:t>Google Gemini 3.6 Flash (Parallel Inference)</a:t>
            </a:r>
          </a:p>
          <a:p>
            <a:pPr>
              <a:spcAft>
                <a:spcPts val="150"/>
              </a:spcAft>
              <a:defRPr sz="880">
                <a:solidFill>
                  <a:srgbClr val="786A60"/>
                </a:solidFill>
                <a:latin typeface="Arial"/>
              </a:defRPr>
            </a:pPr>
            <a:r>
              <a:t>• Real-Time Director analyzing student emotional temperature in parallel.</a:t>
            </a:r>
          </a:p>
          <a:p>
            <a:pPr>
              <a:spcAft>
                <a:spcPts val="150"/>
              </a:spcAft>
              <a:defRPr sz="880">
                <a:solidFill>
                  <a:srgbClr val="786A60"/>
                </a:solidFill>
                <a:latin typeface="Arial"/>
              </a:defRPr>
            </a:pPr>
            <a:r>
              <a:t>• Selects from 9 distinct avatar gestures (hand_to_heart, reassuring_palms).</a:t>
            </a:r>
          </a:p>
          <a:p>
            <a:pPr>
              <a:spcAft>
                <a:spcPts val="150"/>
              </a:spcAft>
              <a:defRPr sz="880">
                <a:solidFill>
                  <a:srgbClr val="786A60"/>
                </a:solidFill>
                <a:latin typeface="Arial"/>
              </a:defRPr>
            </a:pPr>
            <a:r>
              <a:t>• Controls smile intensity, head tilt angle, and kinetic emotional energy.</a:t>
            </a:r>
          </a:p>
        </p:txBody>
      </p:sp>
      <p:sp>
        <p:nvSpPr>
          <p:cNvPr id="11" name="Rounded Rectangle 10"/>
          <p:cNvSpPr/>
          <p:nvPr/>
        </p:nvSpPr>
        <p:spPr>
          <a:xfrm>
            <a:off x="6217920" y="3429000"/>
            <a:ext cx="5212080" cy="164592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3538728"/>
            <a:ext cx="4846320" cy="1426464"/>
          </a:xfrm>
          <a:prstGeom prst="rect">
            <a:avLst/>
          </a:prstGeom>
          <a:noFill/>
        </p:spPr>
        <p:txBody>
          <a:bodyPr wrap="square" lIns="0" tIns="0" rIns="0" bIns="0">
            <a:spAutoFit/>
          </a:bodyPr>
          <a:lstStyle/>
          <a:p>
            <a:pPr>
              <a:spcAft>
                <a:spcPts val="200"/>
              </a:spcAft>
              <a:defRPr sz="950" b="1">
                <a:solidFill>
                  <a:srgbClr val="D9663C"/>
                </a:solidFill>
                <a:latin typeface="Georgia"/>
              </a:defRPr>
            </a:pPr>
            <a:r>
              <a:t>LAYER 4 • VOICE SYNTHESIS &amp; SAFETY  [24kHz Linear PCM]</a:t>
            </a:r>
          </a:p>
          <a:p>
            <a:pPr>
              <a:spcAft>
                <a:spcPts val="400"/>
              </a:spcAft>
              <a:defRPr sz="1200" b="1">
                <a:solidFill>
                  <a:srgbClr val="2C2420"/>
                </a:solidFill>
                <a:latin typeface="Arial"/>
              </a:defRPr>
            </a:pPr>
            <a:r>
              <a:t>Gnani.ai Timbre-v2.5 &amp; Tele-MANAS SOS Router</a:t>
            </a:r>
          </a:p>
          <a:p>
            <a:pPr>
              <a:spcAft>
                <a:spcPts val="150"/>
              </a:spcAft>
              <a:defRPr sz="880">
                <a:solidFill>
                  <a:srgbClr val="786A60"/>
                </a:solidFill>
                <a:latin typeface="Arial"/>
              </a:defRPr>
            </a:pPr>
            <a:r>
              <a:t>• Gnani.ai 24kHz linear PCM Indian English voice co-delivered with text.</a:t>
            </a:r>
          </a:p>
          <a:p>
            <a:pPr>
              <a:spcAft>
                <a:spcPts val="150"/>
              </a:spcAft>
              <a:defRPr sz="880">
                <a:solidFill>
                  <a:srgbClr val="786A60"/>
                </a:solidFill>
                <a:latin typeface="Arial"/>
              </a:defRPr>
            </a:pPr>
            <a:r>
              <a:t>• Deterministic In-Memory RAG: 140 clinical items in JSON (&lt;1ms lookup).</a:t>
            </a:r>
          </a:p>
          <a:p>
            <a:pPr>
              <a:spcAft>
                <a:spcPts val="150"/>
              </a:spcAft>
              <a:defRPr sz="880">
                <a:solidFill>
                  <a:srgbClr val="786A60"/>
                </a:solidFill>
                <a:latin typeface="Arial"/>
              </a:defRPr>
            </a:pPr>
            <a:r>
              <a:t>• Automated Multi-Channel SOS: Twilio, WhatsApp wa.me &amp; SMS dispatch.</a:t>
            </a:r>
          </a:p>
        </p:txBody>
      </p:sp>
      <p:sp>
        <p:nvSpPr>
          <p:cNvPr id="13" name="Rounded Rectangle 12"/>
          <p:cNvSpPr/>
          <p:nvPr/>
        </p:nvSpPr>
        <p:spPr>
          <a:xfrm>
            <a:off x="731520" y="5303520"/>
            <a:ext cx="10698480" cy="1005840"/>
          </a:xfrm>
          <a:prstGeom prst="roundRect">
            <a:avLst/>
          </a:prstGeom>
          <a:solidFill>
            <a:srgbClr val="F5FCFA"/>
          </a:solidFill>
          <a:ln w="19050">
            <a:solidFill>
              <a:srgbClr val="3575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394960"/>
            <a:ext cx="10332720" cy="822960"/>
          </a:xfrm>
          <a:prstGeom prst="rect">
            <a:avLst/>
          </a:prstGeom>
          <a:noFill/>
        </p:spPr>
        <p:txBody>
          <a:bodyPr wrap="square" lIns="0" tIns="0" rIns="0" bIns="0">
            <a:spAutoFit/>
          </a:bodyPr>
          <a:lstStyle/>
          <a:p>
            <a:pPr>
              <a:spcAft>
                <a:spcPts val="200"/>
              </a:spcAft>
              <a:defRPr sz="1050" b="1">
                <a:solidFill>
                  <a:srgbClr val="357568"/>
                </a:solidFill>
                <a:latin typeface="Georgia"/>
              </a:defRPr>
            </a:pPr>
            <a:r>
              <a:t>⚡ PERFORMANCE BENCHMARK: CONVENTIONAL CHATBOTS vs. MOODMITRA DUAL-ENGINE</a:t>
            </a:r>
          </a:p>
          <a:p>
            <a:pPr>
              <a:defRPr sz="950" b="1">
                <a:solidFill>
                  <a:srgbClr val="2C2420"/>
                </a:solidFill>
                <a:latin typeface="Arial"/>
              </a:defRPr>
            </a:pPr>
            <a:r>
              <a:t>• Conventional Chatbots: 8.5s–12s voice roundtrip  |  Text-only walls  |  Robotic cheerleading  |  Passive hotline links</a:t>
            </a:r>
            <a:br/>
            <a:r>
              <a:t>• MoodMitra Dual-Engine: &lt;2.3s Total Roundtrip Latency  |  Embodied 3D Avatar  |  3-Stage Empathy  |  &lt;1ms Deterministic SOS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9F2"/>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D9663C"/>
                </a:solidFill>
                <a:latin typeface="Georgia"/>
              </a:defRPr>
            </a:pPr>
            <a:r>
              <a:t>04. MARKET RESEARCH &amp; DATA RIGOR</a:t>
            </a:r>
          </a:p>
        </p:txBody>
      </p:sp>
      <p:sp>
        <p:nvSpPr>
          <p:cNvPr id="3" name="TextBox 2"/>
          <p:cNvSpPr txBox="1"/>
          <p:nvPr/>
        </p:nvSpPr>
        <p:spPr>
          <a:xfrm>
            <a:off x="731520" y="658368"/>
            <a:ext cx="10698480" cy="502920"/>
          </a:xfrm>
          <a:prstGeom prst="rect">
            <a:avLst/>
          </a:prstGeom>
          <a:noFill/>
        </p:spPr>
        <p:txBody>
          <a:bodyPr wrap="square" lIns="0" tIns="0" rIns="0" bIns="0">
            <a:spAutoFit/>
          </a:bodyPr>
          <a:lstStyle/>
          <a:p>
            <a:pPr>
              <a:defRPr sz="2200" b="1">
                <a:solidFill>
                  <a:srgbClr val="2C2420"/>
                </a:solidFill>
                <a:latin typeface="Georgia"/>
              </a:defRPr>
            </a:pPr>
            <a:r>
              <a:t>$1.2B Market Sizing &amp; Grounded Clinical Repositories</a:t>
            </a:r>
          </a:p>
        </p:txBody>
      </p:sp>
      <p:sp>
        <p:nvSpPr>
          <p:cNvPr id="4" name="TextBox 3"/>
          <p:cNvSpPr txBox="1"/>
          <p:nvPr/>
        </p:nvSpPr>
        <p:spPr>
          <a:xfrm>
            <a:off x="731520" y="1188720"/>
            <a:ext cx="10698480" cy="320040"/>
          </a:xfrm>
          <a:prstGeom prst="rect">
            <a:avLst/>
          </a:prstGeom>
          <a:noFill/>
        </p:spPr>
        <p:txBody>
          <a:bodyPr wrap="square" lIns="0" tIns="0" rIns="0" bIns="0">
            <a:spAutoFit/>
          </a:bodyPr>
          <a:lstStyle/>
          <a:p>
            <a:pPr>
              <a:defRPr sz="1100">
                <a:solidFill>
                  <a:srgbClr val="786A60"/>
                </a:solidFill>
                <a:latin typeface="Arial"/>
              </a:defRPr>
            </a:pPr>
            <a:r>
              <a:t>Targeting 45M Indian students backed by validated therapeutic datasets and Govt. health infrastructure.</a:t>
            </a:r>
          </a:p>
        </p:txBody>
      </p:sp>
      <p:sp>
        <p:nvSpPr>
          <p:cNvPr id="5" name="Rounded Rectangle 4"/>
          <p:cNvSpPr/>
          <p:nvPr/>
        </p:nvSpPr>
        <p:spPr>
          <a:xfrm>
            <a:off x="731520" y="1645920"/>
            <a:ext cx="5120640" cy="46634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754880" cy="4389120"/>
          </a:xfrm>
          <a:prstGeom prst="rect">
            <a:avLst/>
          </a:prstGeom>
          <a:noFill/>
        </p:spPr>
        <p:txBody>
          <a:bodyPr wrap="square" lIns="0" tIns="0" rIns="0" bIns="0">
            <a:spAutoFit/>
          </a:bodyPr>
          <a:lstStyle/>
          <a:p>
            <a:pPr>
              <a:spcAft>
                <a:spcPts val="800"/>
              </a:spcAft>
              <a:defRPr sz="1100" b="1">
                <a:solidFill>
                  <a:srgbClr val="D9663C"/>
                </a:solidFill>
                <a:latin typeface="Georgia"/>
              </a:defRPr>
            </a:pPr>
            <a:r>
              <a:t>MARKET OPPORTUNITY &amp; BUSINESS MODEL</a:t>
            </a:r>
          </a:p>
          <a:p>
            <a:pPr>
              <a:defRPr sz="1300" b="1">
                <a:solidFill>
                  <a:srgbClr val="D9663C"/>
                </a:solidFill>
                <a:latin typeface="Georgia"/>
              </a:defRPr>
            </a:pPr>
            <a:r>
              <a:t>TAM: $1.2B (45M Students)</a:t>
            </a:r>
          </a:p>
          <a:p>
            <a:pPr>
              <a:spcAft>
                <a:spcPts val="800"/>
              </a:spcAft>
              <a:defRPr sz="950">
                <a:solidFill>
                  <a:srgbClr val="786A60"/>
                </a:solidFill>
                <a:latin typeface="Arial"/>
              </a:defRPr>
            </a:pPr>
            <a:r>
              <a:t>Total Indian test-prep, competitive coaching &amp; higher secondary student market.</a:t>
            </a:r>
          </a:p>
          <a:p>
            <a:pPr>
              <a:defRPr sz="1300" b="1">
                <a:solidFill>
                  <a:srgbClr val="2C2420"/>
                </a:solidFill>
                <a:latin typeface="Georgia"/>
              </a:defRPr>
            </a:pPr>
            <a:r>
              <a:t>SAM: $320M (12M Coaching Aspirants)</a:t>
            </a:r>
          </a:p>
          <a:p>
            <a:pPr>
              <a:spcAft>
                <a:spcPts val="800"/>
              </a:spcAft>
              <a:defRPr sz="950">
                <a:solidFill>
                  <a:srgbClr val="786A60"/>
                </a:solidFill>
                <a:latin typeface="Arial"/>
              </a:defRPr>
            </a:pPr>
            <a:r>
              <a:t>Students enrolled in intensive offline &amp; online coaching centers (Kota, Hyderabad, Allen, Aakash).</a:t>
            </a:r>
          </a:p>
          <a:p>
            <a:pPr>
              <a:defRPr sz="1300" b="1">
                <a:solidFill>
                  <a:srgbClr val="357568"/>
                </a:solidFill>
                <a:latin typeface="Georgia"/>
              </a:defRPr>
            </a:pPr>
            <a:r>
              <a:t>SOM: $24M (500K Early Adopters)</a:t>
            </a:r>
          </a:p>
          <a:p>
            <a:pPr>
              <a:spcAft>
                <a:spcPts val="800"/>
              </a:spcAft>
              <a:defRPr sz="950">
                <a:solidFill>
                  <a:srgbClr val="786A60"/>
                </a:solidFill>
                <a:latin typeface="Arial"/>
              </a:defRPr>
            </a:pPr>
            <a:r>
              <a:t>Initial beachhead: NEET &amp; JEE droppers and repeaters seeking dedicated emotional support companions.</a:t>
            </a:r>
          </a:p>
          <a:p>
            <a:pPr>
              <a:spcAft>
                <a:spcPts val="300"/>
              </a:spcAft>
              <a:defRPr sz="1050" b="1">
                <a:solidFill>
                  <a:srgbClr val="D9663C"/>
                </a:solidFill>
                <a:latin typeface="Georgia"/>
              </a:defRPr>
            </a:pPr>
            <a:r>
              <a:t>MONETIZATION STRATEGY:</a:t>
            </a:r>
          </a:p>
          <a:p>
            <a:pPr>
              <a:defRPr sz="950">
                <a:solidFill>
                  <a:srgbClr val="2C2420"/>
                </a:solidFill>
                <a:latin typeface="Arial"/>
              </a:defRPr>
            </a:pPr>
            <a:r>
              <a:t>• B2C Freemium: Free daily chats + ₹299/mo Pro (Unlimited voice calls, anxiety reports).</a:t>
            </a:r>
            <a:br/>
            <a:r>
              <a:t>• B2B Institutional: White-label coaching dashboard for batch burnout heatmaps.</a:t>
            </a:r>
          </a:p>
        </p:txBody>
      </p:sp>
      <p:sp>
        <p:nvSpPr>
          <p:cNvPr id="7" name="Rounded Rectangle 6"/>
          <p:cNvSpPr/>
          <p:nvPr/>
        </p:nvSpPr>
        <p:spPr>
          <a:xfrm>
            <a:off x="6126480" y="1645920"/>
            <a:ext cx="5303520" cy="46634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783080"/>
            <a:ext cx="4937760" cy="4389120"/>
          </a:xfrm>
          <a:prstGeom prst="rect">
            <a:avLst/>
          </a:prstGeom>
          <a:noFill/>
        </p:spPr>
        <p:txBody>
          <a:bodyPr wrap="square" lIns="0" tIns="0" rIns="0" bIns="0">
            <a:spAutoFit/>
          </a:bodyPr>
          <a:lstStyle/>
          <a:p>
            <a:pPr>
              <a:spcAft>
                <a:spcPts val="800"/>
              </a:spcAft>
              <a:defRPr sz="1100" b="1">
                <a:solidFill>
                  <a:srgbClr val="D9663C"/>
                </a:solidFill>
                <a:latin typeface="Georgia"/>
              </a:defRPr>
            </a:pPr>
            <a:r>
              <a:t>CURATED CLINICAL &amp; HINGLISH REPOSITORIES</a:t>
            </a:r>
          </a:p>
          <a:p>
            <a:pPr>
              <a:defRPr sz="1150" b="1">
                <a:solidFill>
                  <a:srgbClr val="2C2420"/>
                </a:solidFill>
                <a:latin typeface="Georgia"/>
              </a:defRPr>
            </a:pPr>
            <a:r>
              <a:t>🔹 nbertagnolli/counsel-chat (Hugging Face)</a:t>
            </a:r>
          </a:p>
          <a:p>
            <a:pPr>
              <a:spcAft>
                <a:spcPts val="600"/>
              </a:spcAft>
              <a:defRPr sz="900">
                <a:solidFill>
                  <a:srgbClr val="786A60"/>
                </a:solidFill>
                <a:latin typeface="Arial"/>
              </a:defRPr>
            </a:pPr>
            <a:r>
              <a:t>2,000+ real therapy questions answered by licensed practitioners; gold standard for training pain validation over toxic cheerleading.</a:t>
            </a:r>
          </a:p>
          <a:p>
            <a:pPr>
              <a:defRPr sz="1150" b="1">
                <a:solidFill>
                  <a:srgbClr val="2C2420"/>
                </a:solidFill>
                <a:latin typeface="Georgia"/>
              </a:defRPr>
            </a:pPr>
            <a:r>
              <a:t>🔹 bdotloh/empathetic-dialogues (Meta AI)</a:t>
            </a:r>
          </a:p>
          <a:p>
            <a:pPr>
              <a:spcAft>
                <a:spcPts val="600"/>
              </a:spcAft>
              <a:defRPr sz="900">
                <a:solidFill>
                  <a:srgbClr val="786A60"/>
                </a:solidFill>
                <a:latin typeface="Arial"/>
              </a:defRPr>
            </a:pPr>
            <a:r>
              <a:t>25,000+ grounded conversations mapping 32 distinct emotional states (panic, loneliness, exam dread) to supportive responses.</a:t>
            </a:r>
          </a:p>
          <a:p>
            <a:pPr>
              <a:defRPr sz="1150" b="1">
                <a:solidFill>
                  <a:srgbClr val="2C2420"/>
                </a:solidFill>
                <a:latin typeface="Georgia"/>
              </a:defRPr>
            </a:pPr>
            <a:r>
              <a:t>🔹 l3cube-pune/hinglish-sentiment (Hugging Face)</a:t>
            </a:r>
          </a:p>
          <a:p>
            <a:pPr>
              <a:spcAft>
                <a:spcPts val="600"/>
              </a:spcAft>
              <a:defRPr sz="900">
                <a:solidFill>
                  <a:srgbClr val="786A60"/>
                </a:solidFill>
                <a:latin typeface="Arial"/>
              </a:defRPr>
            </a:pPr>
            <a:r>
              <a:t>Major code-mixed sentiment corpus teaching Mahiru to understand Indian youth vernacular: 'kalesh', 'fati padi hai', 'drame'.</a:t>
            </a:r>
          </a:p>
          <a:p>
            <a:pPr>
              <a:defRPr sz="1150" b="1">
                <a:solidFill>
                  <a:srgbClr val="2C2420"/>
                </a:solidFill>
                <a:latin typeface="Georgia"/>
              </a:defRPr>
            </a:pPr>
            <a:r>
              <a:t>🔹 Tele-MANAS &amp; KIRAN National Protocol</a:t>
            </a:r>
          </a:p>
          <a:p>
            <a:pPr>
              <a:spcAft>
                <a:spcPts val="600"/>
              </a:spcAft>
              <a:defRPr sz="900">
                <a:solidFill>
                  <a:srgbClr val="786A60"/>
                </a:solidFill>
                <a:latin typeface="Arial"/>
              </a:defRPr>
            </a:pPr>
            <a:r>
              <a:t>Direct alignment with Govt. of India Ministry of Health guidelines for 24/7 mental health crisis routing and helpline 14416.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9F2"/>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tIns="0" rIns="0" bIns="0">
            <a:spAutoFit/>
          </a:bodyPr>
          <a:lstStyle/>
          <a:p>
            <a:pPr>
              <a:defRPr sz="1000" b="1">
                <a:solidFill>
                  <a:srgbClr val="D9663C"/>
                </a:solidFill>
                <a:latin typeface="Georgia"/>
              </a:defRPr>
            </a:pPr>
            <a:r>
              <a:t>05. EXPERIENCE MAHIRU LIVE</a:t>
            </a:r>
          </a:p>
        </p:txBody>
      </p:sp>
      <p:sp>
        <p:nvSpPr>
          <p:cNvPr id="3" name="TextBox 2"/>
          <p:cNvSpPr txBox="1"/>
          <p:nvPr/>
        </p:nvSpPr>
        <p:spPr>
          <a:xfrm>
            <a:off x="731520" y="658368"/>
            <a:ext cx="10698480" cy="502920"/>
          </a:xfrm>
          <a:prstGeom prst="rect">
            <a:avLst/>
          </a:prstGeom>
          <a:noFill/>
        </p:spPr>
        <p:txBody>
          <a:bodyPr wrap="square" lIns="0" tIns="0" rIns="0" bIns="0">
            <a:spAutoFit/>
          </a:bodyPr>
          <a:lstStyle/>
          <a:p>
            <a:pPr>
              <a:defRPr sz="2200" b="1">
                <a:solidFill>
                  <a:srgbClr val="2C2420"/>
                </a:solidFill>
                <a:latin typeface="Georgia"/>
              </a:defRPr>
            </a:pPr>
            <a:r>
              <a:t>Every Student Deserves a Safe Space to Be Heard</a:t>
            </a:r>
          </a:p>
        </p:txBody>
      </p:sp>
      <p:sp>
        <p:nvSpPr>
          <p:cNvPr id="4" name="TextBox 3"/>
          <p:cNvSpPr txBox="1"/>
          <p:nvPr/>
        </p:nvSpPr>
        <p:spPr>
          <a:xfrm>
            <a:off x="731520" y="1188720"/>
            <a:ext cx="10698480" cy="320040"/>
          </a:xfrm>
          <a:prstGeom prst="rect">
            <a:avLst/>
          </a:prstGeom>
          <a:noFill/>
        </p:spPr>
        <p:txBody>
          <a:bodyPr wrap="square" lIns="0" tIns="0" rIns="0" bIns="0">
            <a:spAutoFit/>
          </a:bodyPr>
          <a:lstStyle/>
          <a:p>
            <a:pPr>
              <a:defRPr sz="1100">
                <a:solidFill>
                  <a:srgbClr val="786A60"/>
                </a:solidFill>
                <a:latin typeface="Arial"/>
              </a:defRPr>
            </a:pPr>
            <a:r>
              <a:t>Experience Mahiru live right now on Vercel and inspect our open-source codebase.</a:t>
            </a:r>
          </a:p>
        </p:txBody>
      </p:sp>
      <p:sp>
        <p:nvSpPr>
          <p:cNvPr id="5" name="Rounded Rectangle 4"/>
          <p:cNvSpPr/>
          <p:nvPr/>
        </p:nvSpPr>
        <p:spPr>
          <a:xfrm>
            <a:off x="731520" y="1645920"/>
            <a:ext cx="5120640" cy="46634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png"/>
          <p:cNvPicPr>
            <a:picLocks noChangeAspect="1"/>
          </p:cNvPicPr>
          <p:nvPr/>
        </p:nvPicPr>
        <p:blipFill>
          <a:blip r:embed="rId2"/>
          <a:stretch>
            <a:fillRect/>
          </a:stretch>
        </p:blipFill>
        <p:spPr>
          <a:xfrm>
            <a:off x="914400" y="1783080"/>
            <a:ext cx="1188720" cy="1188720"/>
          </a:xfrm>
          <a:prstGeom prst="rect">
            <a:avLst/>
          </a:prstGeom>
        </p:spPr>
      </p:pic>
      <p:sp>
        <p:nvSpPr>
          <p:cNvPr id="7" name="TextBox 6"/>
          <p:cNvSpPr txBox="1"/>
          <p:nvPr/>
        </p:nvSpPr>
        <p:spPr>
          <a:xfrm>
            <a:off x="2194560" y="1783080"/>
            <a:ext cx="3474720" cy="1188720"/>
          </a:xfrm>
          <a:prstGeom prst="rect">
            <a:avLst/>
          </a:prstGeom>
          <a:noFill/>
        </p:spPr>
        <p:txBody>
          <a:bodyPr wrap="square" lIns="0" tIns="0" rIns="0" bIns="0">
            <a:spAutoFit/>
          </a:bodyPr>
          <a:lstStyle/>
          <a:p>
            <a:pPr>
              <a:defRPr sz="1600" b="1">
                <a:solidFill>
                  <a:srgbClr val="2C2420"/>
                </a:solidFill>
                <a:latin typeface="Georgia"/>
              </a:defRPr>
            </a:pPr>
            <a:r>
              <a:t>MoodMitra (मुड मित्र)</a:t>
            </a:r>
          </a:p>
          <a:p>
            <a:pPr>
              <a:defRPr sz="1100" i="1">
                <a:solidFill>
                  <a:srgbClr val="D9663C"/>
                </a:solidFill>
                <a:latin typeface="Georgia"/>
              </a:defRPr>
            </a:pPr>
            <a:r>
              <a:t>Talk. Support. Protect.</a:t>
            </a:r>
          </a:p>
        </p:txBody>
      </p:sp>
      <p:sp>
        <p:nvSpPr>
          <p:cNvPr id="8" name="TextBox 7"/>
          <p:cNvSpPr txBox="1"/>
          <p:nvPr/>
        </p:nvSpPr>
        <p:spPr>
          <a:xfrm>
            <a:off x="914400" y="3017520"/>
            <a:ext cx="4754880" cy="3108960"/>
          </a:xfrm>
          <a:prstGeom prst="rect">
            <a:avLst/>
          </a:prstGeom>
          <a:noFill/>
        </p:spPr>
        <p:txBody>
          <a:bodyPr wrap="square" lIns="0" tIns="0" rIns="0" bIns="0">
            <a:spAutoFit/>
          </a:bodyPr>
          <a:lstStyle/>
          <a:p/>
          <a:p>
            <a:pPr>
              <a:defRPr sz="1150" b="1">
                <a:solidFill>
                  <a:srgbClr val="2C2420"/>
                </a:solidFill>
                <a:latin typeface="Georgia"/>
              </a:defRPr>
            </a:pPr>
            <a:r>
              <a:t>🌐 Live Production Link</a:t>
            </a:r>
          </a:p>
          <a:p>
            <a:pPr>
              <a:spcAft>
                <a:spcPts val="600"/>
              </a:spcAft>
              <a:defRPr sz="950">
                <a:solidFill>
                  <a:srgbClr val="786A60"/>
                </a:solidFill>
                <a:latin typeface="Arial"/>
              </a:defRPr>
            </a:pPr>
            <a:r>
              <a:t>moodmitra.vercel.app (Edge Serverless)</a:t>
            </a:r>
          </a:p>
          <a:p>
            <a:pPr>
              <a:defRPr sz="1150" b="1">
                <a:solidFill>
                  <a:srgbClr val="2C2420"/>
                </a:solidFill>
                <a:latin typeface="Georgia"/>
              </a:defRPr>
            </a:pPr>
            <a:r>
              <a:t>📂 GitHub Repository</a:t>
            </a:r>
          </a:p>
          <a:p>
            <a:pPr>
              <a:spcAft>
                <a:spcPts val="600"/>
              </a:spcAft>
              <a:defRPr sz="950">
                <a:solidFill>
                  <a:srgbClr val="786A60"/>
                </a:solidFill>
                <a:latin typeface="Arial"/>
              </a:defRPr>
            </a:pPr>
            <a:r>
              <a:t>github.com/Code-hk-hack/moodmitra</a:t>
            </a:r>
          </a:p>
          <a:p>
            <a:pPr>
              <a:defRPr sz="1150" b="1">
                <a:solidFill>
                  <a:srgbClr val="2C2420"/>
                </a:solidFill>
                <a:latin typeface="Georgia"/>
              </a:defRPr>
            </a:pPr>
            <a:r>
              <a:t>⚡ Real-Time Latency</a:t>
            </a:r>
          </a:p>
          <a:p>
            <a:pPr>
              <a:spcAft>
                <a:spcPts val="600"/>
              </a:spcAft>
              <a:defRPr sz="950">
                <a:solidFill>
                  <a:srgbClr val="786A60"/>
                </a:solidFill>
                <a:latin typeface="Arial"/>
              </a:defRPr>
            </a:pPr>
            <a:r>
              <a:t>&lt;2.3s Full Speech &amp; Kinematic Co-Delivery</a:t>
            </a:r>
          </a:p>
          <a:p>
            <a:pPr>
              <a:defRPr sz="1150" b="1">
                <a:solidFill>
                  <a:srgbClr val="2C2420"/>
                </a:solidFill>
                <a:latin typeface="Georgia"/>
              </a:defRPr>
            </a:pPr>
            <a:r>
              <a:t>🛡️ Safety Certification</a:t>
            </a:r>
          </a:p>
          <a:p>
            <a:pPr>
              <a:spcAft>
                <a:spcPts val="600"/>
              </a:spcAft>
              <a:defRPr sz="950">
                <a:solidFill>
                  <a:srgbClr val="786A60"/>
                </a:solidFill>
                <a:latin typeface="Arial"/>
              </a:defRPr>
            </a:pPr>
            <a:r>
              <a:t>100% Deterministic Crisis Guardrail + Tele-MANAS 14416</a:t>
            </a:r>
          </a:p>
          <a:p>
            <a:pPr>
              <a:defRPr sz="1400" b="1" i="1">
                <a:solidFill>
                  <a:srgbClr val="D9663C"/>
                </a:solidFill>
                <a:latin typeface="Georgia"/>
              </a:defRPr>
            </a:pPr>
            <a:r>
              <a:t>“Let's experience Mahiru in action.” 🎤</a:t>
            </a:r>
          </a:p>
        </p:txBody>
      </p:sp>
      <p:sp>
        <p:nvSpPr>
          <p:cNvPr id="9" name="Rounded Rectangle 8"/>
          <p:cNvSpPr/>
          <p:nvPr/>
        </p:nvSpPr>
        <p:spPr>
          <a:xfrm>
            <a:off x="6126480" y="1645920"/>
            <a:ext cx="5303520" cy="4663440"/>
          </a:xfrm>
          <a:prstGeom prst="roundRect">
            <a:avLst/>
          </a:prstGeom>
          <a:solidFill>
            <a:srgbClr val="FFFFFF"/>
          </a:solidFill>
          <a:ln w="19050">
            <a:solidFill>
              <a:srgbClr val="F0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783080"/>
            <a:ext cx="4937760" cy="4389120"/>
          </a:xfrm>
          <a:prstGeom prst="rect">
            <a:avLst/>
          </a:prstGeom>
          <a:noFill/>
        </p:spPr>
        <p:txBody>
          <a:bodyPr wrap="square" lIns="0" tIns="0" rIns="0" bIns="0">
            <a:spAutoFit/>
          </a:bodyPr>
          <a:lstStyle/>
          <a:p>
            <a:pPr>
              <a:spcAft>
                <a:spcPts val="1000"/>
              </a:spcAft>
              <a:defRPr sz="1100" b="1">
                <a:solidFill>
                  <a:srgbClr val="D9663C"/>
                </a:solidFill>
                <a:latin typeface="Georgia"/>
              </a:defRPr>
            </a:pPr>
            <a:r>
              <a:t>PRODUCT ROADMAP &amp; INSTITUTIONAL VISION</a:t>
            </a:r>
          </a:p>
          <a:p>
            <a:pPr>
              <a:defRPr sz="1150" b="1">
                <a:solidFill>
                  <a:srgbClr val="2C2420"/>
                </a:solidFill>
                <a:latin typeface="Georgia"/>
              </a:defRPr>
            </a:pPr>
            <a:r>
              <a:t>🚀 Q3 2026: Multi-Regional Expansion</a:t>
            </a:r>
          </a:p>
          <a:p>
            <a:pPr>
              <a:spcAft>
                <a:spcPts val="800"/>
              </a:spcAft>
              <a:defRPr sz="900">
                <a:solidFill>
                  <a:srgbClr val="786A60"/>
                </a:solidFill>
                <a:latin typeface="Arial"/>
              </a:defRPr>
            </a:pPr>
            <a:r>
              <a:t>Expanding beyond Hinglish into Tamil, Telugu, Marathi, and Bengali to protect rural exam aspirants.</a:t>
            </a:r>
          </a:p>
          <a:p>
            <a:pPr>
              <a:defRPr sz="1150" b="1">
                <a:solidFill>
                  <a:srgbClr val="2C2420"/>
                </a:solidFill>
                <a:latin typeface="Georgia"/>
              </a:defRPr>
            </a:pPr>
            <a:r>
              <a:t>🚀 Q4 2026: Wearable Biofeedback (Smartwatches)</a:t>
            </a:r>
          </a:p>
          <a:p>
            <a:pPr>
              <a:spcAft>
                <a:spcPts val="800"/>
              </a:spcAft>
              <a:defRPr sz="900">
                <a:solidFill>
                  <a:srgbClr val="786A60"/>
                </a:solidFill>
                <a:latin typeface="Arial"/>
              </a:defRPr>
            </a:pPr>
            <a:r>
              <a:t>Continuous HR &amp; galvanic skin response integration to preemptively detect panic spikes before mock exams.</a:t>
            </a:r>
          </a:p>
          <a:p>
            <a:pPr>
              <a:defRPr sz="1150" b="1">
                <a:solidFill>
                  <a:srgbClr val="2C2420"/>
                </a:solidFill>
                <a:latin typeface="Georgia"/>
              </a:defRPr>
            </a:pPr>
            <a:r>
              <a:t>🚀 Q1 2027: B2B Coaching Academy Integration</a:t>
            </a:r>
          </a:p>
          <a:p>
            <a:pPr>
              <a:spcAft>
                <a:spcPts val="800"/>
              </a:spcAft>
              <a:defRPr sz="900">
                <a:solidFill>
                  <a:srgbClr val="786A60"/>
                </a:solidFill>
                <a:latin typeface="Arial"/>
              </a:defRPr>
            </a:pPr>
            <a:r>
              <a:t>Institutional dashboard providing aggregate, anonymized stress analytics to academic counselors in Kota &amp; Hyderabad.</a:t>
            </a:r>
          </a:p>
          <a:p>
            <a:pPr>
              <a:spcAft>
                <a:spcPts val="200"/>
              </a:spcAft>
              <a:defRPr sz="2200" b="1">
                <a:solidFill>
                  <a:srgbClr val="D9663C"/>
                </a:solidFill>
                <a:latin typeface="Georgia"/>
              </a:defRPr>
            </a:pPr>
            <a:r>
              <a:t>THANK YOU!</a:t>
            </a:r>
          </a:p>
          <a:p>
            <a:pPr>
              <a:defRPr sz="1050" b="1">
                <a:solidFill>
                  <a:srgbClr val="2C2420"/>
                </a:solidFill>
                <a:latin typeface="Arial"/>
              </a:defRPr>
            </a:pPr>
            <a:r>
              <a:t>Team Solo Hacker  |  Open for Questions &amp; Live Demonstration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