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8"/>
  </p:notesMasterIdLst>
  <p:sldIdLst>
    <p:sldId id="256" r:id="rId2"/>
    <p:sldId id="257" r:id="rId3"/>
    <p:sldId id="258" r:id="rId4"/>
    <p:sldId id="259" r:id="rId5"/>
    <p:sldId id="260" r:id="rId6"/>
    <p:sldId id="261" r:id="rId7"/>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84" d="100"/>
          <a:sy n="84" d="100"/>
        </p:scale>
        <p:origin x="629" y="7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notesMaster" Target="notesMasters/notesMaster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tableStyles" Target="tableStyle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theme" Target="theme/theme1.xml"/><Relationship Id="rId5" Type="http://schemas.openxmlformats.org/officeDocument/2006/relationships/slide" Target="slides/slide4.xml"/><Relationship Id="rId10"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56655193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SPEAKER HOOK (Slide 1 - 30s):</a:t>
            </a:r>
          </a:p>
          <a:p>
            <a:r>
              <a:t>Good morning/afternoon, esteemed judges. We are presenting MoodMitra: an autonomous 3D anime emotional safety and crisis companion specifically engineered for the 45 million Indian students preparing for competitive exams like NEET and JEE.</a:t>
            </a:r>
          </a:p>
          <a:p>
            <a:endParaRPr/>
          </a:p>
          <a:p>
            <a:r>
              <a:t>Unlike generic chatbots that output toxic positivity in long text paragraphs, MoodMitra features Mahiru: a living, breathing 3D elder sister powered by a dual-engine architecture combining Groq's sub-150ms speech intelligence and Google Gemini's kinematic gesture director, operating under a 100% deterministic, sub-1ms emergency crisis guardrail.</a:t>
            </a:r>
          </a:p>
        </p:txBody>
      </p:sp>
      <p:sp>
        <p:nvSpPr>
          <p:cNvPr id="4" name="Slide Number Placeholder 3"/>
          <p:cNvSpPr>
            <a:spLocks noGrp="1"/>
          </p:cNvSpPr>
          <p:nvPr>
            <p:ph type="sldNum" sz="quarter" idx="5"/>
          </p:nvPr>
        </p:nvSpPr>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SPEAKER SCRIPT (Slide 2 - The Problem - 45s):</a:t>
            </a:r>
          </a:p>
          <a:p>
            <a:r>
              <a:t>Look at the reality in India today. 86% of students in coaching hubs like Kota and Delhi report paralyzing exam anxiety. Academic pressure increases adolescent depression risk by 2.4 times.</a:t>
            </a:r>
          </a:p>
          <a:p>
            <a:endParaRPr/>
          </a:p>
          <a:p>
            <a:r>
              <a:t>When a student feels broken at 2 AM after failing a mock test, generic AI tools fail them completely. ChatGPT gives them an essay with toxic cheerleading—telling them to 'just stay positive'. Worse, existing voice assistants take 8 to 12 seconds to respond, and text has zero warmth or physical co-regulation.</a:t>
            </a:r>
          </a:p>
          <a:p>
            <a:endParaRPr/>
          </a:p>
          <a:p>
            <a:r>
              <a:t>Students don't need a search engine or a cheerful robot. They need an elder sibling who truly listens, validates their pain in their own language, and immediately protects them if they are in danger.</a:t>
            </a:r>
          </a:p>
        </p:txBody>
      </p:sp>
      <p:sp>
        <p:nvSpPr>
          <p:cNvPr id="4" name="Slide Number Placeholder 3"/>
          <p:cNvSpPr>
            <a:spLocks noGrp="1"/>
          </p:cNvSpPr>
          <p:nvPr>
            <p:ph type="sldNum" sz="quarter" idx="5"/>
          </p:nvPr>
        </p:nvSpPr>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SPEAKER SCRIPT (Slide 3 - The Solution - 45s):</a:t>
            </a:r>
          </a:p>
          <a:p>
            <a:r>
              <a:t>MoodMitra introduces three groundbreaking innovations.</a:t>
            </a:r>
          </a:p>
          <a:p>
            <a:endParaRPr/>
          </a:p>
          <a:p>
            <a:r>
              <a:t>First, Embodied Presence with Mahiru: Built on Three.js and VRM, she maintains eye contact, smiles warmly, and guides the student through somatic 4-7-8 breathing exercises with real-time sinusoidal chest expansion.</a:t>
            </a:r>
          </a:p>
          <a:p>
            <a:endParaRPr/>
          </a:p>
          <a:p>
            <a:r>
              <a:t>Second, our 3-Stage Empathy Protocol: Derived from clinical therapy datasets, Mahiru validates their emotional pain first, cognitively reframes their mock test results, and prescribes a single manageable micro-action. Every word is concise and matches her voice 100%.</a:t>
            </a:r>
          </a:p>
          <a:p>
            <a:endParaRPr/>
          </a:p>
          <a:p>
            <a:r>
              <a:t>Third, our Deterministic Crisis Router: If a student indicates self-harm, Mahiru does not ask for permission. In less than 1 millisecond, she locks the screen with India's Tele-MANAS 14416 helpline and dispatches immediate WhatsApp and SMS check-in alerts to parents and trusted friends.</a:t>
            </a:r>
          </a:p>
        </p:txBody>
      </p:sp>
      <p:sp>
        <p:nvSpPr>
          <p:cNvPr id="4" name="Slide Number Placeholder 3"/>
          <p:cNvSpPr>
            <a:spLocks noGrp="1"/>
          </p:cNvSpPr>
          <p:nvPr>
            <p:ph type="sldNum" sz="quarter" idx="5"/>
          </p:nvPr>
        </p:nvSpPr>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SPEAKER SCRIPT (Slide 4 - Tech Stack &amp; Architecture - 45s):</a:t>
            </a:r>
          </a:p>
          <a:p>
            <a:r>
              <a:t>Under the hood, MoodMitra runs a lightning-fast dual-engine pipeline.</a:t>
            </a:r>
          </a:p>
          <a:p>
            <a:endParaRPr/>
          </a:p>
          <a:p>
            <a:r>
              <a:t>On the frontend, Next.js 16 and Three-VRM render Mahiru directly on the client canvas, using Web Audio API FFT analysis for sample-accurate lip-sync with zero lag.</a:t>
            </a:r>
          </a:p>
          <a:p>
            <a:endParaRPr/>
          </a:p>
          <a:p>
            <a:r>
              <a:t>When speech enters, Groq's Whisper Large-v3-Turbo transcribes it in under 150 milliseconds. Then, our dual-engine cognitive pipeline kicks in: Groq Llama 3.3 70B produces the empathetic verbal response under a strict 350-token budget, while Google Gemini 3.6 Flash runs in parallel as a kinematic director, calculating facial expressions, smile intensity, and avatar gestures.</a:t>
            </a:r>
          </a:p>
          <a:p>
            <a:endParaRPr/>
          </a:p>
          <a:p>
            <a:r>
              <a:t>Voice is synthesized via Gnani.ai's 24kHz Indian English model and co-delivered to the browser. The total roundtrip latency is under 2.3 seconds—fast enough to feel completely natural.</a:t>
            </a:r>
          </a:p>
        </p:txBody>
      </p:sp>
      <p:sp>
        <p:nvSpPr>
          <p:cNvPr id="4" name="Slide Number Placeholder 3"/>
          <p:cNvSpPr>
            <a:spLocks noGrp="1"/>
          </p:cNvSpPr>
          <p:nvPr>
            <p:ph type="sldNum" sz="quarter" idx="5"/>
          </p:nvPr>
        </p:nvSpPr>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SPEAKER SCRIPT (Slide 5 - Market Opportunity &amp; Clinical Data - 45s):</a:t>
            </a:r>
          </a:p>
          <a:p>
            <a:r>
              <a:t>Let's talk about the business and scientific rigor.</a:t>
            </a:r>
          </a:p>
          <a:p>
            <a:endParaRPr/>
          </a:p>
          <a:p>
            <a:r>
              <a:t>The test-prep mental wellness market in India represents a $1.2 Billion total addressable market. Our serviceable market comprises 12 million coaching students, starting with an initial beachhead of 500,000 NEET and JEE droppers. Our dual monetization model leverages B2C freemium subscriptions and B2B institutional licensing to coaching institutes like Allen and Aakash who desperately need student retention and welfare metrics.</a:t>
            </a:r>
          </a:p>
          <a:p>
            <a:endParaRPr/>
          </a:p>
          <a:p>
            <a:r>
              <a:t>Critically, Mahiru's empathy is not hallucinated. She is grounded in Hugging Face's Counsel-Chat dataset of licensed therapist responses, Meta's Empathetic Dialogues, and L3Cube-Pune's Hinglish sentiment corpus to fluently decipher student slang like 'kalesh' and 'fati padi hai'. Everything is linked directly with India's official Tele-MANAS national health infrastructure.</a:t>
            </a:r>
          </a:p>
        </p:txBody>
      </p:sp>
      <p:sp>
        <p:nvSpPr>
          <p:cNvPr id="4" name="Slide Number Placeholder 3"/>
          <p:cNvSpPr>
            <a:spLocks noGrp="1"/>
          </p:cNvSpPr>
          <p:nvPr>
            <p:ph type="sldNum" sz="quarter" idx="5"/>
          </p:nvPr>
        </p:nvSpPr>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SPEAKER SCRIPT (Slide 6 - Live Demo &amp; Conclusion - 30s):</a:t>
            </a:r>
          </a:p>
          <a:p>
            <a:r>
              <a:t>MoodMitra is not a mock-up. It is 100% production-ready, open-source on GitHub, and deployed live on Vercel right now.</a:t>
            </a:r>
          </a:p>
          <a:p>
            <a:endParaRPr/>
          </a:p>
          <a:p>
            <a:r>
              <a:t>Every student deserves a safe space to be heard. We invite you to experience Mahiru live right now. Thank you!</a:t>
            </a:r>
          </a:p>
        </p:txBody>
      </p:sp>
      <p:sp>
        <p:nvSpPr>
          <p:cNvPr id="4" name="Slide Number Placeholder 3"/>
          <p:cNvSpPr>
            <a:spLocks noGrp="1"/>
          </p:cNvSpPr>
          <p:nvPr>
            <p:ph type="sldNum" sz="quarter" idx="5"/>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9/13/2026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9/13/2026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9/13/2026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9/13/2026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9/13/2026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9/13/2026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9/13/2026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9/13/2026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9/13/2026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9/13/2026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9/13/2026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9/13/2026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FFF9F2"/>
        </a:solidFill>
        <a:effectLst/>
      </p:bgPr>
    </p:bg>
    <p:spTree>
      <p:nvGrpSpPr>
        <p:cNvPr id="1" name=""/>
        <p:cNvGrpSpPr/>
        <p:nvPr/>
      </p:nvGrpSpPr>
      <p:grpSpPr>
        <a:xfrm>
          <a:off x="0" y="0"/>
          <a:ext cx="0" cy="0"/>
          <a:chOff x="0" y="0"/>
          <a:chExt cx="0" cy="0"/>
        </a:xfrm>
      </p:grpSpPr>
      <p:sp>
        <p:nvSpPr>
          <p:cNvPr id="2" name="TextBox 1"/>
          <p:cNvSpPr txBox="1"/>
          <p:nvPr/>
        </p:nvSpPr>
        <p:spPr>
          <a:xfrm>
            <a:off x="228599" y="1344168"/>
            <a:ext cx="8101584" cy="4375557"/>
          </a:xfrm>
          <a:prstGeom prst="rect">
            <a:avLst/>
          </a:prstGeom>
          <a:noFill/>
        </p:spPr>
        <p:txBody>
          <a:bodyPr wrap="square" lIns="0" tIns="0" rIns="0" bIns="0">
            <a:spAutoFit/>
          </a:bodyPr>
          <a:lstStyle/>
          <a:p>
            <a:pPr>
              <a:spcAft>
                <a:spcPts val="1200"/>
              </a:spcAft>
              <a:defRPr sz="1050" b="1">
                <a:solidFill>
                  <a:srgbClr val="D9663C"/>
                </a:solidFill>
                <a:latin typeface="Georgia"/>
              </a:defRPr>
            </a:pPr>
            <a:r>
              <a:rPr sz="1400" dirty="0"/>
              <a:t>AI FOR HEALTHCARE • STUDENT EMOTIONAL SAFETY &amp; SUICIDE PREVENTION</a:t>
            </a:r>
          </a:p>
          <a:p>
            <a:pPr>
              <a:spcAft>
                <a:spcPts val="600"/>
              </a:spcAft>
              <a:defRPr sz="4400" b="1">
                <a:solidFill>
                  <a:srgbClr val="2C2420"/>
                </a:solidFill>
                <a:latin typeface="Georgia"/>
              </a:defRPr>
            </a:pPr>
            <a:r>
              <a:rPr dirty="0" err="1"/>
              <a:t>MoodMitra</a:t>
            </a:r>
            <a:r>
              <a:rPr dirty="0"/>
              <a:t> (</a:t>
            </a:r>
            <a:r>
              <a:rPr dirty="0" err="1"/>
              <a:t>मुड</a:t>
            </a:r>
            <a:r>
              <a:rPr dirty="0"/>
              <a:t> </a:t>
            </a:r>
            <a:r>
              <a:rPr dirty="0" err="1"/>
              <a:t>मित्र</a:t>
            </a:r>
            <a:r>
              <a:rPr dirty="0"/>
              <a:t>)</a:t>
            </a:r>
          </a:p>
          <a:p>
            <a:pPr>
              <a:spcAft>
                <a:spcPts val="1600"/>
              </a:spcAft>
              <a:defRPr sz="1500">
                <a:solidFill>
                  <a:srgbClr val="786A60"/>
                </a:solidFill>
                <a:latin typeface="Arial"/>
              </a:defRPr>
            </a:pPr>
            <a:r>
              <a:rPr sz="1600" dirty="0"/>
              <a:t>Autonomous 3D Anime Emotional Companion &amp; Crisis Guardrail for High-Stakes Indian Students</a:t>
            </a:r>
          </a:p>
          <a:p>
            <a:pPr>
              <a:spcAft>
                <a:spcPts val="2000"/>
              </a:spcAft>
              <a:defRPr sz="2000" b="1" i="1">
                <a:solidFill>
                  <a:srgbClr val="D9663C"/>
                </a:solidFill>
                <a:latin typeface="Georgia"/>
              </a:defRPr>
            </a:pPr>
            <a:r>
              <a:rPr dirty="0"/>
              <a:t>“Talk. Support. Protect.”</a:t>
            </a:r>
          </a:p>
          <a:p>
            <a:pPr>
              <a:spcAft>
                <a:spcPts val="1600"/>
              </a:spcAft>
              <a:defRPr sz="1150" b="1">
                <a:solidFill>
                  <a:srgbClr val="357568"/>
                </a:solidFill>
                <a:latin typeface="Arial"/>
              </a:defRPr>
            </a:pPr>
            <a:r>
              <a:rPr sz="1400" dirty="0"/>
              <a:t>⚡ Sub-2.3s Dual-Engine Voice  |  🎭 Real-Time 3D Lip-Sync  |  🛡️ &lt;1ms Crisis Router</a:t>
            </a:r>
            <a:r>
              <a:rPr lang="en-US" sz="1400" dirty="0"/>
              <a:t>(working)</a:t>
            </a:r>
          </a:p>
          <a:p>
            <a:pPr>
              <a:spcAft>
                <a:spcPts val="600"/>
              </a:spcAft>
              <a:defRPr sz="1100">
                <a:solidFill>
                  <a:srgbClr val="786A60"/>
                </a:solidFill>
                <a:latin typeface="Arial"/>
              </a:defRPr>
            </a:pPr>
            <a:r>
              <a:rPr sz="1600" dirty="0"/>
              <a:t>Target Audience: 45M+ NEET, JEE &amp; Board Aspirants Across India</a:t>
            </a:r>
            <a:endParaRPr lang="en-US" sz="1600" dirty="0"/>
          </a:p>
          <a:p>
            <a:pPr>
              <a:spcAft>
                <a:spcPts val="600"/>
              </a:spcAft>
              <a:defRPr sz="1100">
                <a:solidFill>
                  <a:srgbClr val="786A60"/>
                </a:solidFill>
                <a:latin typeface="Arial"/>
              </a:defRPr>
            </a:pPr>
            <a:endParaRPr sz="1600" dirty="0"/>
          </a:p>
          <a:p>
            <a:pPr>
              <a:defRPr sz="1100" b="1">
                <a:solidFill>
                  <a:srgbClr val="2C2420"/>
                </a:solidFill>
                <a:latin typeface="Arial"/>
              </a:defRPr>
            </a:pPr>
            <a:r>
              <a:rPr sz="1600" dirty="0"/>
              <a:t>Team Solo Hacker  •  Live Deployment on </a:t>
            </a:r>
            <a:r>
              <a:rPr sz="1600" dirty="0" err="1"/>
              <a:t>Vercel</a:t>
            </a:r>
            <a:r>
              <a:rPr sz="1600" dirty="0"/>
              <a:t>  •  Open-Source on GitHub</a:t>
            </a:r>
            <a:endParaRPr lang="en-US" sz="1600" dirty="0"/>
          </a:p>
          <a:p>
            <a:pPr>
              <a:defRPr sz="1100" b="1">
                <a:solidFill>
                  <a:srgbClr val="2C2420"/>
                </a:solidFill>
                <a:latin typeface="Arial"/>
              </a:defRPr>
            </a:pPr>
            <a:endParaRPr lang="en-IN" dirty="0"/>
          </a:p>
          <a:p>
            <a:pPr>
              <a:defRPr sz="1100" b="1">
                <a:solidFill>
                  <a:srgbClr val="2C2420"/>
                </a:solidFill>
                <a:latin typeface="Arial"/>
              </a:defRPr>
            </a:pPr>
            <a:endParaRPr lang="en-IN" dirty="0"/>
          </a:p>
          <a:p>
            <a:pPr>
              <a:defRPr sz="1100" b="1">
                <a:solidFill>
                  <a:srgbClr val="2C2420"/>
                </a:solidFill>
                <a:latin typeface="Arial"/>
              </a:defRPr>
            </a:pPr>
            <a:endParaRPr lang="en-IN" dirty="0"/>
          </a:p>
          <a:p>
            <a:pPr>
              <a:defRPr sz="1100" b="1">
                <a:solidFill>
                  <a:srgbClr val="2C2420"/>
                </a:solidFill>
                <a:latin typeface="Arial"/>
              </a:defRPr>
            </a:pPr>
            <a:endParaRPr dirty="0"/>
          </a:p>
        </p:txBody>
      </p:sp>
      <p:sp>
        <p:nvSpPr>
          <p:cNvPr id="3" name="Rounded Rectangle 2"/>
          <p:cNvSpPr/>
          <p:nvPr/>
        </p:nvSpPr>
        <p:spPr>
          <a:xfrm>
            <a:off x="8375903" y="1005840"/>
            <a:ext cx="3474720" cy="4846320"/>
          </a:xfrm>
          <a:prstGeom prst="roundRect">
            <a:avLst/>
          </a:prstGeom>
          <a:solidFill>
            <a:srgbClr val="FFFFFF"/>
          </a:solidFill>
          <a:ln w="19050">
            <a:solidFill>
              <a:srgbClr val="F0DED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4" name="Picture 3" descr="logo.png"/>
          <p:cNvPicPr>
            <a:picLocks noChangeAspect="1"/>
          </p:cNvPicPr>
          <p:nvPr/>
        </p:nvPicPr>
        <p:blipFill>
          <a:blip r:embed="rId3"/>
          <a:stretch>
            <a:fillRect/>
          </a:stretch>
        </p:blipFill>
        <p:spPr>
          <a:xfrm>
            <a:off x="8604503" y="1188720"/>
            <a:ext cx="3017520" cy="3017520"/>
          </a:xfrm>
          <a:prstGeom prst="rect">
            <a:avLst/>
          </a:prstGeom>
        </p:spPr>
      </p:pic>
      <p:sp>
        <p:nvSpPr>
          <p:cNvPr id="5" name="TextBox 4"/>
          <p:cNvSpPr txBox="1"/>
          <p:nvPr/>
        </p:nvSpPr>
        <p:spPr>
          <a:xfrm>
            <a:off x="8604503" y="4297680"/>
            <a:ext cx="3200400" cy="846386"/>
          </a:xfrm>
          <a:prstGeom prst="rect">
            <a:avLst/>
          </a:prstGeom>
          <a:noFill/>
        </p:spPr>
        <p:txBody>
          <a:bodyPr wrap="square" lIns="0" tIns="0" rIns="0" bIns="0">
            <a:spAutoFit/>
          </a:bodyPr>
          <a:lstStyle/>
          <a:p>
            <a:pPr algn="ctr">
              <a:defRPr sz="1300" b="1">
                <a:solidFill>
                  <a:srgbClr val="2C2420"/>
                </a:solidFill>
                <a:latin typeface="Georgia"/>
              </a:defRPr>
            </a:pPr>
            <a:r>
              <a:rPr dirty="0"/>
              <a:t>Mahiru &amp; </a:t>
            </a:r>
            <a:r>
              <a:rPr dirty="0" err="1"/>
              <a:t>MoodMitra</a:t>
            </a:r>
            <a:endParaRPr dirty="0"/>
          </a:p>
          <a:p>
            <a:pPr algn="ctr">
              <a:defRPr sz="950">
                <a:solidFill>
                  <a:srgbClr val="786A60"/>
                </a:solidFill>
                <a:latin typeface="Arial"/>
              </a:defRPr>
            </a:pPr>
            <a:r>
              <a:rPr sz="1400" dirty="0"/>
              <a:t>A safe, culturally relatable anime elder sibling providing 24/7 non-judgmental presence.</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FF9F2"/>
        </a:solidFill>
        <a:effectLst/>
      </p:bgPr>
    </p:bg>
    <p:spTree>
      <p:nvGrpSpPr>
        <p:cNvPr id="1" name=""/>
        <p:cNvGrpSpPr/>
        <p:nvPr/>
      </p:nvGrpSpPr>
      <p:grpSpPr>
        <a:xfrm>
          <a:off x="0" y="0"/>
          <a:ext cx="0" cy="0"/>
          <a:chOff x="0" y="0"/>
          <a:chExt cx="0" cy="0"/>
        </a:xfrm>
      </p:grpSpPr>
      <p:sp>
        <p:nvSpPr>
          <p:cNvPr id="2" name="TextBox 1"/>
          <p:cNvSpPr txBox="1"/>
          <p:nvPr/>
        </p:nvSpPr>
        <p:spPr>
          <a:xfrm>
            <a:off x="731520" y="365760"/>
            <a:ext cx="10698480" cy="246221"/>
          </a:xfrm>
          <a:prstGeom prst="rect">
            <a:avLst/>
          </a:prstGeom>
          <a:noFill/>
        </p:spPr>
        <p:txBody>
          <a:bodyPr wrap="square" lIns="0" tIns="0" rIns="0" bIns="0">
            <a:spAutoFit/>
          </a:bodyPr>
          <a:lstStyle/>
          <a:p>
            <a:pPr>
              <a:defRPr sz="1000" b="1">
                <a:solidFill>
                  <a:srgbClr val="D9663C"/>
                </a:solidFill>
                <a:latin typeface="Georgia"/>
              </a:defRPr>
            </a:pPr>
            <a:r>
              <a:rPr sz="1600" dirty="0"/>
              <a:t>01. THE PROBLEM</a:t>
            </a:r>
          </a:p>
        </p:txBody>
      </p:sp>
      <p:sp>
        <p:nvSpPr>
          <p:cNvPr id="3" name="TextBox 2"/>
          <p:cNvSpPr txBox="1"/>
          <p:nvPr/>
        </p:nvSpPr>
        <p:spPr>
          <a:xfrm>
            <a:off x="731520" y="658368"/>
            <a:ext cx="10698480" cy="502920"/>
          </a:xfrm>
          <a:prstGeom prst="rect">
            <a:avLst/>
          </a:prstGeom>
          <a:noFill/>
        </p:spPr>
        <p:txBody>
          <a:bodyPr wrap="square" lIns="0" tIns="0" rIns="0" bIns="0">
            <a:spAutoFit/>
          </a:bodyPr>
          <a:lstStyle/>
          <a:p>
            <a:pPr>
              <a:defRPr sz="2200" b="1">
                <a:solidFill>
                  <a:srgbClr val="2C2420"/>
                </a:solidFill>
                <a:latin typeface="Georgia"/>
              </a:defRPr>
            </a:pPr>
            <a:r>
              <a:t>The Silent Mental Health Crisis Among 45M+ Indian Aspirants</a:t>
            </a:r>
          </a:p>
        </p:txBody>
      </p:sp>
      <p:sp>
        <p:nvSpPr>
          <p:cNvPr id="4" name="TextBox 3"/>
          <p:cNvSpPr txBox="1"/>
          <p:nvPr/>
        </p:nvSpPr>
        <p:spPr>
          <a:xfrm>
            <a:off x="731520" y="1188720"/>
            <a:ext cx="10698480" cy="246221"/>
          </a:xfrm>
          <a:prstGeom prst="rect">
            <a:avLst/>
          </a:prstGeom>
          <a:noFill/>
        </p:spPr>
        <p:txBody>
          <a:bodyPr wrap="square" lIns="0" tIns="0" rIns="0" bIns="0">
            <a:spAutoFit/>
          </a:bodyPr>
          <a:lstStyle/>
          <a:p>
            <a:pPr>
              <a:defRPr sz="1100">
                <a:solidFill>
                  <a:srgbClr val="786A60"/>
                </a:solidFill>
                <a:latin typeface="Arial"/>
              </a:defRPr>
            </a:pPr>
            <a:r>
              <a:rPr sz="1600" dirty="0"/>
              <a:t>High-stakes competitive exam culture (NEET, JEE, Boards) leaves students isolated, burned out, and defenseless.</a:t>
            </a:r>
          </a:p>
        </p:txBody>
      </p:sp>
      <p:sp>
        <p:nvSpPr>
          <p:cNvPr id="5" name="Rounded Rectangle 4"/>
          <p:cNvSpPr/>
          <p:nvPr/>
        </p:nvSpPr>
        <p:spPr>
          <a:xfrm>
            <a:off x="731520" y="1645920"/>
            <a:ext cx="3291840" cy="4663440"/>
          </a:xfrm>
          <a:prstGeom prst="roundRect">
            <a:avLst/>
          </a:prstGeom>
          <a:solidFill>
            <a:srgbClr val="FFFFFF"/>
          </a:solidFill>
          <a:ln w="19050">
            <a:solidFill>
              <a:srgbClr val="E6C8B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914400" y="4745736"/>
            <a:ext cx="2926080" cy="1456809"/>
          </a:xfrm>
          <a:prstGeom prst="rect">
            <a:avLst/>
          </a:prstGeom>
          <a:noFill/>
        </p:spPr>
        <p:txBody>
          <a:bodyPr wrap="square" lIns="0" tIns="0" rIns="0" bIns="0">
            <a:spAutoFit/>
          </a:bodyPr>
          <a:lstStyle/>
          <a:p>
            <a:pPr>
              <a:defRPr sz="1050" b="1" i="1">
                <a:solidFill>
                  <a:srgbClr val="C0392B"/>
                </a:solidFill>
                <a:latin typeface="Georgia"/>
              </a:defRPr>
            </a:pPr>
            <a:r>
              <a:rPr sz="1600" dirty="0"/>
              <a:t>“Ghar me </a:t>
            </a:r>
            <a:r>
              <a:rPr sz="1600" dirty="0" err="1"/>
              <a:t>kalesh</a:t>
            </a:r>
            <a:r>
              <a:rPr sz="1600" dirty="0"/>
              <a:t> ho </a:t>
            </a:r>
            <a:r>
              <a:rPr sz="1600" dirty="0" err="1"/>
              <a:t>gaya</a:t>
            </a:r>
            <a:r>
              <a:rPr sz="1600" dirty="0"/>
              <a:t>...</a:t>
            </a:r>
            <a:br>
              <a:rPr sz="1600" dirty="0"/>
            </a:br>
            <a:r>
              <a:rPr sz="1600" dirty="0"/>
              <a:t>meri </a:t>
            </a:r>
            <a:r>
              <a:rPr sz="1600" dirty="0" err="1"/>
              <a:t>fati</a:t>
            </a:r>
            <a:r>
              <a:rPr sz="1600" dirty="0"/>
              <a:t> padi </a:t>
            </a:r>
            <a:r>
              <a:rPr sz="1600" dirty="0" err="1"/>
              <a:t>hai</a:t>
            </a:r>
            <a:r>
              <a:rPr sz="1600" dirty="0"/>
              <a:t>, I can't take this anymore.”</a:t>
            </a:r>
          </a:p>
          <a:p>
            <a:pPr>
              <a:spcBef>
                <a:spcPts val="400"/>
              </a:spcBef>
              <a:defRPr sz="900">
                <a:solidFill>
                  <a:srgbClr val="786A60"/>
                </a:solidFill>
                <a:latin typeface="Arial"/>
              </a:defRPr>
            </a:pPr>
            <a:r>
              <a:rPr sz="1400" dirty="0"/>
              <a:t>— Actual student distress query from Kota coaching forums</a:t>
            </a:r>
            <a:endParaRPr lang="en-US" sz="1400" dirty="0"/>
          </a:p>
          <a:p>
            <a:pPr>
              <a:spcBef>
                <a:spcPts val="400"/>
              </a:spcBef>
              <a:defRPr sz="900">
                <a:solidFill>
                  <a:srgbClr val="786A60"/>
                </a:solidFill>
                <a:latin typeface="Arial"/>
              </a:defRPr>
            </a:pPr>
            <a:endParaRPr sz="1200" dirty="0"/>
          </a:p>
        </p:txBody>
      </p:sp>
      <p:sp>
        <p:nvSpPr>
          <p:cNvPr id="8" name="Rounded Rectangle 7"/>
          <p:cNvSpPr/>
          <p:nvPr/>
        </p:nvSpPr>
        <p:spPr>
          <a:xfrm>
            <a:off x="4206240" y="1645920"/>
            <a:ext cx="7223760" cy="1463040"/>
          </a:xfrm>
          <a:prstGeom prst="roundRect">
            <a:avLst/>
          </a:prstGeom>
          <a:solidFill>
            <a:srgbClr val="FFFFFF"/>
          </a:solidFill>
          <a:ln w="19050">
            <a:solidFill>
              <a:srgbClr val="F0DED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4389120" y="1755648"/>
            <a:ext cx="7040880" cy="1526059"/>
          </a:xfrm>
          <a:prstGeom prst="rect">
            <a:avLst/>
          </a:prstGeom>
          <a:noFill/>
        </p:spPr>
        <p:txBody>
          <a:bodyPr wrap="square" lIns="0" tIns="0" rIns="0" bIns="0">
            <a:spAutoFit/>
          </a:bodyPr>
          <a:lstStyle/>
          <a:p>
            <a:pPr>
              <a:spcAft>
                <a:spcPts val="200"/>
              </a:spcAft>
              <a:defRPr sz="1250" b="1">
                <a:solidFill>
                  <a:srgbClr val="D9663C"/>
                </a:solidFill>
                <a:latin typeface="Georgia"/>
              </a:defRPr>
            </a:pPr>
            <a:r>
              <a:rPr sz="1600" dirty="0"/>
              <a:t>🚨 PROBLEM 01: Academic Pressure &amp; Severe Burnout</a:t>
            </a:r>
          </a:p>
          <a:p>
            <a:pPr>
              <a:spcAft>
                <a:spcPts val="300"/>
              </a:spcAft>
              <a:defRPr sz="1050" b="1">
                <a:solidFill>
                  <a:srgbClr val="2C2420"/>
                </a:solidFill>
                <a:latin typeface="Arial"/>
              </a:defRPr>
            </a:pPr>
            <a:r>
              <a:rPr sz="1600" dirty="0"/>
              <a:t>KEY METRIC: 86% — report extreme anxiety (2.4x depression spike)</a:t>
            </a:r>
          </a:p>
          <a:p>
            <a:pPr>
              <a:defRPr sz="950">
                <a:solidFill>
                  <a:srgbClr val="786A60"/>
                </a:solidFill>
                <a:latin typeface="Arial"/>
              </a:defRPr>
            </a:pPr>
            <a:r>
              <a:rPr sz="1400" dirty="0"/>
              <a:t>2.4M NEET &amp; 1.2M JEE aspirants competing for &lt;1% seats in Kota and Delhi. Fear of mock failure and family shame triggers acute panic attacks.</a:t>
            </a:r>
            <a:endParaRPr lang="en-US" sz="1400" dirty="0"/>
          </a:p>
          <a:p>
            <a:pPr>
              <a:defRPr sz="950">
                <a:solidFill>
                  <a:srgbClr val="786A60"/>
                </a:solidFill>
                <a:latin typeface="Arial"/>
              </a:defRPr>
            </a:pPr>
            <a:endParaRPr lang="en-IN" sz="1400" dirty="0"/>
          </a:p>
          <a:p>
            <a:pPr>
              <a:defRPr sz="950">
                <a:solidFill>
                  <a:srgbClr val="786A60"/>
                </a:solidFill>
                <a:latin typeface="Arial"/>
              </a:defRPr>
            </a:pPr>
            <a:endParaRPr lang="en-IN" sz="1050" dirty="0"/>
          </a:p>
          <a:p>
            <a:pPr>
              <a:defRPr sz="950">
                <a:solidFill>
                  <a:srgbClr val="786A60"/>
                </a:solidFill>
                <a:latin typeface="Arial"/>
              </a:defRPr>
            </a:pPr>
            <a:endParaRPr sz="1050" dirty="0"/>
          </a:p>
        </p:txBody>
      </p:sp>
      <p:sp>
        <p:nvSpPr>
          <p:cNvPr id="10" name="Rounded Rectangle 9"/>
          <p:cNvSpPr/>
          <p:nvPr/>
        </p:nvSpPr>
        <p:spPr>
          <a:xfrm>
            <a:off x="4206240" y="3227832"/>
            <a:ext cx="7223760" cy="1463040"/>
          </a:xfrm>
          <a:prstGeom prst="roundRect">
            <a:avLst/>
          </a:prstGeom>
          <a:solidFill>
            <a:srgbClr val="FFFFFF"/>
          </a:solidFill>
          <a:ln w="19050">
            <a:solidFill>
              <a:srgbClr val="F0DED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4389120" y="3337560"/>
            <a:ext cx="6858000" cy="1233671"/>
          </a:xfrm>
          <a:prstGeom prst="rect">
            <a:avLst/>
          </a:prstGeom>
          <a:noFill/>
        </p:spPr>
        <p:txBody>
          <a:bodyPr wrap="square" lIns="0" tIns="0" rIns="0" bIns="0">
            <a:spAutoFit/>
          </a:bodyPr>
          <a:lstStyle/>
          <a:p>
            <a:pPr>
              <a:spcAft>
                <a:spcPts val="200"/>
              </a:spcAft>
              <a:defRPr sz="1250" b="1">
                <a:solidFill>
                  <a:srgbClr val="D9663C"/>
                </a:solidFill>
                <a:latin typeface="Georgia"/>
              </a:defRPr>
            </a:pPr>
            <a:r>
              <a:rPr sz="1600" dirty="0"/>
              <a:t>🤖 PROBLEM 02: Generic AI 'Toxic Positivity' &amp; Vernacular Blindness</a:t>
            </a:r>
          </a:p>
          <a:p>
            <a:pPr>
              <a:spcAft>
                <a:spcPts val="300"/>
              </a:spcAft>
              <a:defRPr sz="1050" b="1">
                <a:solidFill>
                  <a:srgbClr val="2C2420"/>
                </a:solidFill>
                <a:latin typeface="Arial"/>
              </a:defRPr>
            </a:pPr>
            <a:r>
              <a:rPr sz="1600" dirty="0"/>
              <a:t>KEY METRIC: 92% — dismiss generic chatbots as cold &amp; unhelpful</a:t>
            </a:r>
          </a:p>
          <a:p>
            <a:pPr>
              <a:defRPr sz="950">
                <a:solidFill>
                  <a:srgbClr val="786A60"/>
                </a:solidFill>
                <a:latin typeface="Arial"/>
              </a:defRPr>
            </a:pPr>
            <a:r>
              <a:rPr sz="1400" dirty="0"/>
              <a:t>ChatGPT and generic LLMs offer unhelpful cheerleading ('Cheer up! You can do it!') and fail to understand Hinglish slang like '</a:t>
            </a:r>
            <a:r>
              <a:rPr sz="1400" dirty="0" err="1"/>
              <a:t>kalesh</a:t>
            </a:r>
            <a:r>
              <a:rPr sz="1400" dirty="0"/>
              <a:t>', '</a:t>
            </a:r>
            <a:r>
              <a:rPr sz="1400" dirty="0" err="1"/>
              <a:t>fati</a:t>
            </a:r>
            <a:r>
              <a:rPr sz="1400" dirty="0"/>
              <a:t> padi </a:t>
            </a:r>
            <a:r>
              <a:rPr sz="1400" dirty="0" err="1"/>
              <a:t>hai</a:t>
            </a:r>
            <a:r>
              <a:rPr sz="1400" dirty="0"/>
              <a:t>', or '</a:t>
            </a:r>
            <a:r>
              <a:rPr sz="1400" dirty="0" err="1"/>
              <a:t>drame</a:t>
            </a:r>
            <a:r>
              <a:rPr sz="1400" dirty="0"/>
              <a:t>'.</a:t>
            </a:r>
          </a:p>
        </p:txBody>
      </p:sp>
      <p:sp>
        <p:nvSpPr>
          <p:cNvPr id="12" name="Rounded Rectangle 11"/>
          <p:cNvSpPr/>
          <p:nvPr/>
        </p:nvSpPr>
        <p:spPr>
          <a:xfrm>
            <a:off x="4206240" y="4809744"/>
            <a:ext cx="7223760" cy="1463040"/>
          </a:xfrm>
          <a:prstGeom prst="roundRect">
            <a:avLst/>
          </a:prstGeom>
          <a:solidFill>
            <a:srgbClr val="FFFFFF"/>
          </a:solidFill>
          <a:ln w="19050">
            <a:solidFill>
              <a:srgbClr val="F0DED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4389120" y="4919472"/>
            <a:ext cx="6858000" cy="956672"/>
          </a:xfrm>
          <a:prstGeom prst="rect">
            <a:avLst/>
          </a:prstGeom>
          <a:noFill/>
        </p:spPr>
        <p:txBody>
          <a:bodyPr wrap="square" lIns="0" tIns="0" rIns="0" bIns="0">
            <a:spAutoFit/>
          </a:bodyPr>
          <a:lstStyle/>
          <a:p>
            <a:pPr>
              <a:spcAft>
                <a:spcPts val="200"/>
              </a:spcAft>
              <a:defRPr sz="1250" b="1">
                <a:solidFill>
                  <a:srgbClr val="D9663C"/>
                </a:solidFill>
                <a:latin typeface="Georgia"/>
              </a:defRPr>
            </a:pPr>
            <a:r>
              <a:rPr sz="1600" dirty="0"/>
              <a:t>⏳ PROBLEM 03: Disembodiment &amp; Fatal Latency Gap</a:t>
            </a:r>
          </a:p>
          <a:p>
            <a:pPr>
              <a:spcAft>
                <a:spcPts val="300"/>
              </a:spcAft>
              <a:defRPr sz="1050" b="1">
                <a:solidFill>
                  <a:srgbClr val="2C2420"/>
                </a:solidFill>
                <a:latin typeface="Arial"/>
              </a:defRPr>
            </a:pPr>
            <a:r>
              <a:rPr sz="1400" dirty="0"/>
              <a:t>KEY METRIC: &gt;8.5s — typical voice roundtrip latency in current apps</a:t>
            </a:r>
          </a:p>
          <a:p>
            <a:pPr>
              <a:defRPr sz="950">
                <a:solidFill>
                  <a:srgbClr val="786A60"/>
                </a:solidFill>
                <a:latin typeface="Arial"/>
              </a:defRPr>
            </a:pPr>
            <a:r>
              <a:rPr sz="1400" dirty="0"/>
              <a:t>Text-only screens offer zero physical co-regulation or warmth. Laggy voice assistants destroy trust when a panicking student needs immediate grounding.</a:t>
            </a:r>
          </a:p>
        </p:txBody>
      </p:sp>
      <p:pic>
        <p:nvPicPr>
          <p:cNvPr id="15" name="Picture 14" descr="logo.png">
            <a:extLst>
              <a:ext uri="{FF2B5EF4-FFF2-40B4-BE49-F238E27FC236}">
                <a16:creationId xmlns:a16="http://schemas.microsoft.com/office/drawing/2014/main" id="{11737FFA-B0F8-3332-771A-C2A7E1BABF5F}"/>
              </a:ext>
            </a:extLst>
          </p:cNvPr>
          <p:cNvPicPr>
            <a:picLocks noChangeAspect="1"/>
          </p:cNvPicPr>
          <p:nvPr/>
        </p:nvPicPr>
        <p:blipFill>
          <a:blip r:embed="rId3"/>
          <a:stretch>
            <a:fillRect/>
          </a:stretch>
        </p:blipFill>
        <p:spPr>
          <a:xfrm>
            <a:off x="762000" y="1719072"/>
            <a:ext cx="3017520" cy="3017520"/>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FF9F2"/>
        </a:solidFill>
        <a:effectLst/>
      </p:bgPr>
    </p:bg>
    <p:spTree>
      <p:nvGrpSpPr>
        <p:cNvPr id="1" name=""/>
        <p:cNvGrpSpPr/>
        <p:nvPr/>
      </p:nvGrpSpPr>
      <p:grpSpPr>
        <a:xfrm>
          <a:off x="0" y="0"/>
          <a:ext cx="0" cy="0"/>
          <a:chOff x="0" y="0"/>
          <a:chExt cx="0" cy="0"/>
        </a:xfrm>
      </p:grpSpPr>
      <p:sp>
        <p:nvSpPr>
          <p:cNvPr id="2" name="TextBox 1"/>
          <p:cNvSpPr txBox="1"/>
          <p:nvPr/>
        </p:nvSpPr>
        <p:spPr>
          <a:xfrm>
            <a:off x="731520" y="365760"/>
            <a:ext cx="10698480" cy="246221"/>
          </a:xfrm>
          <a:prstGeom prst="rect">
            <a:avLst/>
          </a:prstGeom>
          <a:noFill/>
        </p:spPr>
        <p:txBody>
          <a:bodyPr wrap="square" lIns="0" tIns="0" rIns="0" bIns="0">
            <a:spAutoFit/>
          </a:bodyPr>
          <a:lstStyle/>
          <a:p>
            <a:pPr>
              <a:defRPr sz="1000" b="1">
                <a:solidFill>
                  <a:srgbClr val="D9663C"/>
                </a:solidFill>
                <a:latin typeface="Georgia"/>
              </a:defRPr>
            </a:pPr>
            <a:r>
              <a:rPr sz="1600" dirty="0"/>
              <a:t>02. THE SOLUTION</a:t>
            </a:r>
          </a:p>
        </p:txBody>
      </p:sp>
      <p:sp>
        <p:nvSpPr>
          <p:cNvPr id="3" name="TextBox 2"/>
          <p:cNvSpPr txBox="1"/>
          <p:nvPr/>
        </p:nvSpPr>
        <p:spPr>
          <a:xfrm>
            <a:off x="731520" y="658368"/>
            <a:ext cx="10698480" cy="369332"/>
          </a:xfrm>
          <a:prstGeom prst="rect">
            <a:avLst/>
          </a:prstGeom>
          <a:noFill/>
        </p:spPr>
        <p:txBody>
          <a:bodyPr wrap="square" lIns="0" tIns="0" rIns="0" bIns="0">
            <a:spAutoFit/>
          </a:bodyPr>
          <a:lstStyle/>
          <a:p>
            <a:pPr>
              <a:defRPr sz="2200" b="1">
                <a:solidFill>
                  <a:srgbClr val="2C2420"/>
                </a:solidFill>
                <a:latin typeface="Georgia"/>
              </a:defRPr>
            </a:pPr>
            <a:r>
              <a:rPr sz="2400" dirty="0" err="1"/>
              <a:t>MoodMitra</a:t>
            </a:r>
            <a:r>
              <a:rPr sz="2400" dirty="0"/>
              <a:t>: Embodied AI Sibling with 3-Stage Clinical Empathy</a:t>
            </a:r>
          </a:p>
        </p:txBody>
      </p:sp>
      <p:sp>
        <p:nvSpPr>
          <p:cNvPr id="4" name="TextBox 3"/>
          <p:cNvSpPr txBox="1"/>
          <p:nvPr/>
        </p:nvSpPr>
        <p:spPr>
          <a:xfrm>
            <a:off x="731520" y="1188720"/>
            <a:ext cx="10698480" cy="215444"/>
          </a:xfrm>
          <a:prstGeom prst="rect">
            <a:avLst/>
          </a:prstGeom>
          <a:noFill/>
        </p:spPr>
        <p:txBody>
          <a:bodyPr wrap="square" lIns="0" tIns="0" rIns="0" bIns="0">
            <a:spAutoFit/>
          </a:bodyPr>
          <a:lstStyle/>
          <a:p>
            <a:pPr>
              <a:defRPr sz="1100">
                <a:solidFill>
                  <a:srgbClr val="786A60"/>
                </a:solidFill>
                <a:latin typeface="Arial"/>
              </a:defRPr>
            </a:pPr>
            <a:r>
              <a:rPr sz="1400" dirty="0"/>
              <a:t>Bridging 3D physical co-regulation, verified therapeutic grounding, and deterministic crisis escalation.</a:t>
            </a:r>
          </a:p>
        </p:txBody>
      </p:sp>
      <p:sp>
        <p:nvSpPr>
          <p:cNvPr id="5" name="Rounded Rectangle 4"/>
          <p:cNvSpPr/>
          <p:nvPr/>
        </p:nvSpPr>
        <p:spPr>
          <a:xfrm>
            <a:off x="731520" y="1488405"/>
            <a:ext cx="5303520" cy="1620555"/>
          </a:xfrm>
          <a:prstGeom prst="roundRect">
            <a:avLst/>
          </a:prstGeom>
          <a:solidFill>
            <a:srgbClr val="FFFFFF"/>
          </a:solidFill>
          <a:ln w="19050">
            <a:solidFill>
              <a:srgbClr val="F0DED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899160" y="1593545"/>
            <a:ext cx="4937760" cy="1500411"/>
          </a:xfrm>
          <a:prstGeom prst="rect">
            <a:avLst/>
          </a:prstGeom>
          <a:noFill/>
        </p:spPr>
        <p:txBody>
          <a:bodyPr wrap="square" lIns="0" tIns="0" rIns="0" bIns="0">
            <a:spAutoFit/>
          </a:bodyPr>
          <a:lstStyle/>
          <a:p>
            <a:pPr>
              <a:spcAft>
                <a:spcPts val="200"/>
              </a:spcAft>
              <a:defRPr sz="1000" b="1">
                <a:solidFill>
                  <a:srgbClr val="D9663C"/>
                </a:solidFill>
                <a:latin typeface="Georgia"/>
              </a:defRPr>
            </a:pPr>
            <a:r>
              <a:rPr sz="1100" dirty="0"/>
              <a:t>🎭 PILLAR 1: EMBODIED 3D COMPANION</a:t>
            </a:r>
          </a:p>
          <a:p>
            <a:pPr>
              <a:spcAft>
                <a:spcPts val="300"/>
              </a:spcAft>
              <a:defRPr sz="1250" b="1">
                <a:solidFill>
                  <a:srgbClr val="2C2420"/>
                </a:solidFill>
                <a:latin typeface="Georgia"/>
              </a:defRPr>
            </a:pPr>
            <a:r>
              <a:rPr sz="1600" dirty="0"/>
              <a:t>3D VRM Avatar Biomechanics (Mahiru)</a:t>
            </a:r>
          </a:p>
          <a:p>
            <a:pPr>
              <a:spcAft>
                <a:spcPts val="150"/>
              </a:spcAft>
              <a:defRPr sz="900">
                <a:solidFill>
                  <a:srgbClr val="786A60"/>
                </a:solidFill>
                <a:latin typeface="Arial"/>
              </a:defRPr>
            </a:pPr>
            <a:r>
              <a:rPr sz="1050" dirty="0"/>
              <a:t>• Wide Sparkling Eyes &amp; Smile: Overcomes VRM joy slits with custom </a:t>
            </a:r>
            <a:r>
              <a:rPr sz="1050" dirty="0" err="1"/>
              <a:t>blendshape</a:t>
            </a:r>
            <a:r>
              <a:rPr sz="1050" dirty="0"/>
              <a:t> kinematics.</a:t>
            </a:r>
          </a:p>
          <a:p>
            <a:pPr>
              <a:spcAft>
                <a:spcPts val="150"/>
              </a:spcAft>
              <a:defRPr sz="900">
                <a:solidFill>
                  <a:srgbClr val="786A60"/>
                </a:solidFill>
                <a:latin typeface="Arial"/>
              </a:defRPr>
            </a:pPr>
            <a:r>
              <a:rPr sz="1050" dirty="0"/>
              <a:t>• Somatic 4-7-8 Breathing Motion: Real-time chest expansion sinusoidal curves guide panic recovery.</a:t>
            </a:r>
          </a:p>
          <a:p>
            <a:pPr>
              <a:spcAft>
                <a:spcPts val="150"/>
              </a:spcAft>
              <a:defRPr sz="900">
                <a:solidFill>
                  <a:srgbClr val="786A60"/>
                </a:solidFill>
                <a:latin typeface="Arial"/>
              </a:defRPr>
            </a:pPr>
            <a:r>
              <a:rPr sz="1050" dirty="0"/>
              <a:t>• Sample-Accurate Lip-Sync: Web Audio FFT </a:t>
            </a:r>
            <a:r>
              <a:rPr sz="1050" dirty="0" err="1"/>
              <a:t>Analyser</a:t>
            </a:r>
            <a:r>
              <a:rPr sz="1050" dirty="0"/>
              <a:t> drives mouth morphs (A, I, O) in real-time.</a:t>
            </a:r>
          </a:p>
        </p:txBody>
      </p:sp>
      <p:sp>
        <p:nvSpPr>
          <p:cNvPr id="7" name="Rounded Rectangle 6"/>
          <p:cNvSpPr/>
          <p:nvPr/>
        </p:nvSpPr>
        <p:spPr>
          <a:xfrm>
            <a:off x="731520" y="3193201"/>
            <a:ext cx="5303520" cy="1700019"/>
          </a:xfrm>
          <a:prstGeom prst="roundRect">
            <a:avLst/>
          </a:prstGeom>
          <a:solidFill>
            <a:srgbClr val="FFFFFF"/>
          </a:solidFill>
          <a:ln w="19050">
            <a:solidFill>
              <a:srgbClr val="F0DED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914400" y="3201041"/>
            <a:ext cx="4937760" cy="1654299"/>
          </a:xfrm>
          <a:prstGeom prst="rect">
            <a:avLst/>
          </a:prstGeom>
          <a:noFill/>
        </p:spPr>
        <p:txBody>
          <a:bodyPr wrap="square" lIns="0" tIns="0" rIns="0" bIns="0">
            <a:spAutoFit/>
          </a:bodyPr>
          <a:lstStyle/>
          <a:p>
            <a:pPr>
              <a:spcAft>
                <a:spcPts val="200"/>
              </a:spcAft>
              <a:defRPr sz="1000" b="1">
                <a:solidFill>
                  <a:srgbClr val="D9663C"/>
                </a:solidFill>
                <a:latin typeface="Georgia"/>
              </a:defRPr>
            </a:pPr>
            <a:r>
              <a:rPr sz="1400" dirty="0"/>
              <a:t>🧠 PILLAR 2: CLINICAL EMPATHY</a:t>
            </a:r>
          </a:p>
          <a:p>
            <a:pPr>
              <a:spcAft>
                <a:spcPts val="300"/>
              </a:spcAft>
              <a:defRPr sz="1250" b="1">
                <a:solidFill>
                  <a:srgbClr val="2C2420"/>
                </a:solidFill>
                <a:latin typeface="Georgia"/>
              </a:defRPr>
            </a:pPr>
            <a:r>
              <a:rPr sz="1400" dirty="0"/>
              <a:t>3-Stage Validation Protocol</a:t>
            </a:r>
          </a:p>
          <a:p>
            <a:pPr>
              <a:spcAft>
                <a:spcPts val="150"/>
              </a:spcAft>
              <a:defRPr sz="900">
                <a:solidFill>
                  <a:srgbClr val="786A60"/>
                </a:solidFill>
                <a:latin typeface="Arial"/>
              </a:defRPr>
            </a:pPr>
            <a:r>
              <a:rPr sz="1200" dirty="0"/>
              <a:t>• Validation First: Validates hurt and revision burnout without toxic cheerleading.</a:t>
            </a:r>
          </a:p>
          <a:p>
            <a:pPr>
              <a:spcAft>
                <a:spcPts val="150"/>
              </a:spcAft>
              <a:defRPr sz="900">
                <a:solidFill>
                  <a:srgbClr val="786A60"/>
                </a:solidFill>
                <a:latin typeface="Arial"/>
              </a:defRPr>
            </a:pPr>
            <a:r>
              <a:rPr sz="1200" dirty="0"/>
              <a:t>• Cognitive Reframing: Reframes mock tests as diagnostic tools, not identity verdicts.</a:t>
            </a:r>
          </a:p>
          <a:p>
            <a:pPr>
              <a:spcAft>
                <a:spcPts val="150"/>
              </a:spcAft>
              <a:defRPr sz="900">
                <a:solidFill>
                  <a:srgbClr val="786A60"/>
                </a:solidFill>
                <a:latin typeface="Arial"/>
              </a:defRPr>
            </a:pPr>
            <a:r>
              <a:rPr sz="1200" dirty="0"/>
              <a:t>• Micro-Action: Prescribes 1 manageable step (drink water, review 2 errors). Under 45 words.</a:t>
            </a:r>
          </a:p>
        </p:txBody>
      </p:sp>
      <p:sp>
        <p:nvSpPr>
          <p:cNvPr id="9" name="Rounded Rectangle 8"/>
          <p:cNvSpPr/>
          <p:nvPr/>
        </p:nvSpPr>
        <p:spPr>
          <a:xfrm>
            <a:off x="731519" y="4966372"/>
            <a:ext cx="5303520" cy="1682496"/>
          </a:xfrm>
          <a:prstGeom prst="roundRect">
            <a:avLst/>
          </a:prstGeom>
          <a:solidFill>
            <a:srgbClr val="FFFFFF"/>
          </a:solidFill>
          <a:ln w="19050">
            <a:solidFill>
              <a:srgbClr val="F0DED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899160" y="5059916"/>
            <a:ext cx="4937760" cy="1515800"/>
          </a:xfrm>
          <a:prstGeom prst="rect">
            <a:avLst/>
          </a:prstGeom>
          <a:noFill/>
        </p:spPr>
        <p:txBody>
          <a:bodyPr wrap="square" lIns="0" tIns="0" rIns="0" bIns="0">
            <a:spAutoFit/>
          </a:bodyPr>
          <a:lstStyle/>
          <a:p>
            <a:pPr>
              <a:spcAft>
                <a:spcPts val="200"/>
              </a:spcAft>
              <a:defRPr sz="1000" b="1">
                <a:solidFill>
                  <a:srgbClr val="D9663C"/>
                </a:solidFill>
                <a:latin typeface="Georgia"/>
              </a:defRPr>
            </a:pPr>
            <a:r>
              <a:rPr sz="1200" dirty="0"/>
              <a:t>🛡️ PILLAR 3: DETERMINISTIC SAFETY</a:t>
            </a:r>
          </a:p>
          <a:p>
            <a:pPr>
              <a:spcAft>
                <a:spcPts val="300"/>
              </a:spcAft>
              <a:defRPr sz="1250" b="1">
                <a:solidFill>
                  <a:srgbClr val="2C2420"/>
                </a:solidFill>
                <a:latin typeface="Georgia"/>
              </a:defRPr>
            </a:pPr>
            <a:r>
              <a:rPr dirty="0"/>
              <a:t>Deterministic Crisis Router (&lt;1ms)</a:t>
            </a:r>
          </a:p>
          <a:p>
            <a:pPr>
              <a:spcAft>
                <a:spcPts val="150"/>
              </a:spcAft>
              <a:defRPr sz="900">
                <a:solidFill>
                  <a:srgbClr val="786A60"/>
                </a:solidFill>
                <a:latin typeface="Arial"/>
              </a:defRPr>
            </a:pPr>
            <a:r>
              <a:rPr sz="1100" dirty="0"/>
              <a:t>• Zero-Asking Escalation: Fast-path bypasses LLM queue in &lt;1ms on self-harm keywords.</a:t>
            </a:r>
          </a:p>
          <a:p>
            <a:pPr>
              <a:spcAft>
                <a:spcPts val="150"/>
              </a:spcAft>
              <a:defRPr sz="900">
                <a:solidFill>
                  <a:srgbClr val="786A60"/>
                </a:solidFill>
                <a:latin typeface="Arial"/>
              </a:defRPr>
            </a:pPr>
            <a:r>
              <a:rPr sz="1100" dirty="0"/>
              <a:t>• Tele-MANAS 14416 Lock: 1-click toll-free Govt. of India mental health helpline dialing.</a:t>
            </a:r>
          </a:p>
          <a:p>
            <a:pPr>
              <a:spcAft>
                <a:spcPts val="150"/>
              </a:spcAft>
              <a:defRPr sz="900">
                <a:solidFill>
                  <a:srgbClr val="786A60"/>
                </a:solidFill>
                <a:latin typeface="Arial"/>
              </a:defRPr>
            </a:pPr>
            <a:r>
              <a:rPr sz="1100" dirty="0"/>
              <a:t>• Auto-SOS to Parents: </a:t>
            </a:r>
            <a:r>
              <a:rPr sz="1050" dirty="0"/>
              <a:t>Multi-channel</a:t>
            </a:r>
            <a:r>
              <a:rPr sz="1100" dirty="0"/>
              <a:t> WhatsApp &amp; SMS emergency check-in dispatched instantly.</a:t>
            </a:r>
          </a:p>
        </p:txBody>
      </p:sp>
      <p:sp>
        <p:nvSpPr>
          <p:cNvPr id="11" name="Rounded Rectangle 10"/>
          <p:cNvSpPr/>
          <p:nvPr/>
        </p:nvSpPr>
        <p:spPr>
          <a:xfrm>
            <a:off x="6217920" y="1488405"/>
            <a:ext cx="5303520" cy="5087311"/>
          </a:xfrm>
          <a:prstGeom prst="roundRect">
            <a:avLst/>
          </a:prstGeom>
          <a:solidFill>
            <a:srgbClr val="FFFFFF"/>
          </a:solidFill>
          <a:ln w="19050">
            <a:solidFill>
              <a:srgbClr val="D2E1D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12" name="Picture 11" descr="mahiru_3d_loaded_1789289701474.png"/>
          <p:cNvPicPr>
            <a:picLocks noChangeAspect="1"/>
          </p:cNvPicPr>
          <p:nvPr/>
        </p:nvPicPr>
        <p:blipFill>
          <a:blip r:embed="rId3"/>
          <a:stretch>
            <a:fillRect/>
          </a:stretch>
        </p:blipFill>
        <p:spPr>
          <a:xfrm>
            <a:off x="6446520" y="1829308"/>
            <a:ext cx="4846320" cy="2450084"/>
          </a:xfrm>
          <a:prstGeom prst="rect">
            <a:avLst/>
          </a:prstGeom>
        </p:spPr>
      </p:pic>
      <p:sp>
        <p:nvSpPr>
          <p:cNvPr id="13" name="TextBox 12"/>
          <p:cNvSpPr txBox="1"/>
          <p:nvPr/>
        </p:nvSpPr>
        <p:spPr>
          <a:xfrm>
            <a:off x="6431280" y="4345398"/>
            <a:ext cx="4846320" cy="1897955"/>
          </a:xfrm>
          <a:prstGeom prst="rect">
            <a:avLst/>
          </a:prstGeom>
          <a:noFill/>
        </p:spPr>
        <p:txBody>
          <a:bodyPr wrap="square" lIns="0" tIns="0" rIns="0" bIns="0">
            <a:spAutoFit/>
          </a:bodyPr>
          <a:lstStyle/>
          <a:p>
            <a:pPr>
              <a:spcAft>
                <a:spcPts val="400"/>
              </a:spcAft>
              <a:defRPr sz="1100" b="1">
                <a:solidFill>
                  <a:srgbClr val="357568"/>
                </a:solidFill>
                <a:latin typeface="Georgia"/>
              </a:defRPr>
            </a:pPr>
            <a:r>
              <a:rPr sz="1600" dirty="0"/>
              <a:t>LIVE EMBODIED 3D APPLICATION (PRODUCTION)</a:t>
            </a:r>
          </a:p>
          <a:p>
            <a:pPr>
              <a:defRPr sz="950">
                <a:solidFill>
                  <a:srgbClr val="2C2420"/>
                </a:solidFill>
                <a:latin typeface="Arial"/>
              </a:defRPr>
            </a:pPr>
            <a:r>
              <a:rPr sz="1100" dirty="0"/>
              <a:t>• Mahiru 3D Avatar: WebGL Three.js canvas running real-time kinematics and lip-sync.</a:t>
            </a:r>
            <a:br>
              <a:rPr sz="1100" dirty="0"/>
            </a:br>
            <a:r>
              <a:rPr sz="1100" dirty="0"/>
              <a:t>• Live 'Voice Call' Mode: Hands-free back-and-forth dialogue with 800ms silence VAD.</a:t>
            </a:r>
            <a:br>
              <a:rPr sz="1100" dirty="0"/>
            </a:br>
            <a:r>
              <a:rPr sz="1100" dirty="0"/>
              <a:t>• Judge Preset Demos: Built-in Quick Pitch, Panic Attack, and Crisis Guardrail triggers.</a:t>
            </a:r>
            <a:br>
              <a:rPr sz="1100" dirty="0"/>
            </a:br>
            <a:r>
              <a:rPr sz="1100" dirty="0"/>
              <a:t>• 100% Speech-Text Parity: Every word spoken aloud at 24kHz with zero delay gap.</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FF9F2"/>
        </a:solidFill>
        <a:effectLst/>
      </p:bgPr>
    </p:bg>
    <p:spTree>
      <p:nvGrpSpPr>
        <p:cNvPr id="1" name=""/>
        <p:cNvGrpSpPr/>
        <p:nvPr/>
      </p:nvGrpSpPr>
      <p:grpSpPr>
        <a:xfrm>
          <a:off x="0" y="0"/>
          <a:ext cx="0" cy="0"/>
          <a:chOff x="0" y="0"/>
          <a:chExt cx="0" cy="0"/>
        </a:xfrm>
      </p:grpSpPr>
      <p:sp>
        <p:nvSpPr>
          <p:cNvPr id="2" name="TextBox 1"/>
          <p:cNvSpPr txBox="1"/>
          <p:nvPr/>
        </p:nvSpPr>
        <p:spPr>
          <a:xfrm>
            <a:off x="731520" y="365760"/>
            <a:ext cx="10698480" cy="246221"/>
          </a:xfrm>
          <a:prstGeom prst="rect">
            <a:avLst/>
          </a:prstGeom>
          <a:noFill/>
        </p:spPr>
        <p:txBody>
          <a:bodyPr wrap="square" lIns="0" tIns="0" rIns="0" bIns="0">
            <a:spAutoFit/>
          </a:bodyPr>
          <a:lstStyle/>
          <a:p>
            <a:pPr>
              <a:defRPr sz="1000" b="1">
                <a:solidFill>
                  <a:srgbClr val="D9663C"/>
                </a:solidFill>
                <a:latin typeface="Georgia"/>
              </a:defRPr>
            </a:pPr>
            <a:r>
              <a:rPr sz="1600" dirty="0"/>
              <a:t>03. TECH STACK &amp; ARCHITECTURE</a:t>
            </a:r>
          </a:p>
        </p:txBody>
      </p:sp>
      <p:sp>
        <p:nvSpPr>
          <p:cNvPr id="3" name="TextBox 2"/>
          <p:cNvSpPr txBox="1"/>
          <p:nvPr/>
        </p:nvSpPr>
        <p:spPr>
          <a:xfrm>
            <a:off x="731520" y="658368"/>
            <a:ext cx="10698480" cy="502920"/>
          </a:xfrm>
          <a:prstGeom prst="rect">
            <a:avLst/>
          </a:prstGeom>
          <a:noFill/>
        </p:spPr>
        <p:txBody>
          <a:bodyPr wrap="square" lIns="0" tIns="0" rIns="0" bIns="0">
            <a:spAutoFit/>
          </a:bodyPr>
          <a:lstStyle/>
          <a:p>
            <a:pPr>
              <a:defRPr sz="2200" b="1">
                <a:solidFill>
                  <a:srgbClr val="2C2420"/>
                </a:solidFill>
                <a:latin typeface="Georgia"/>
              </a:defRPr>
            </a:pPr>
            <a:r>
              <a:rPr dirty="0"/>
              <a:t>Dual-Engine Pipeline Delivering Sub-2.3s Latency</a:t>
            </a:r>
          </a:p>
        </p:txBody>
      </p:sp>
      <p:sp>
        <p:nvSpPr>
          <p:cNvPr id="4" name="TextBox 3"/>
          <p:cNvSpPr txBox="1"/>
          <p:nvPr/>
        </p:nvSpPr>
        <p:spPr>
          <a:xfrm>
            <a:off x="731520" y="1188720"/>
            <a:ext cx="10698480" cy="246221"/>
          </a:xfrm>
          <a:prstGeom prst="rect">
            <a:avLst/>
          </a:prstGeom>
          <a:noFill/>
        </p:spPr>
        <p:txBody>
          <a:bodyPr wrap="square" lIns="0" tIns="0" rIns="0" bIns="0">
            <a:spAutoFit/>
          </a:bodyPr>
          <a:lstStyle/>
          <a:p>
            <a:pPr>
              <a:defRPr sz="1100">
                <a:solidFill>
                  <a:srgbClr val="786A60"/>
                </a:solidFill>
                <a:latin typeface="Arial"/>
              </a:defRPr>
            </a:pPr>
            <a:r>
              <a:rPr sz="1600" dirty="0"/>
              <a:t>Serverless Next.js 16 App Router orchestrating parallel AI models with zero server overhead.</a:t>
            </a:r>
          </a:p>
        </p:txBody>
      </p:sp>
      <p:sp>
        <p:nvSpPr>
          <p:cNvPr id="5" name="Rounded Rectangle 4"/>
          <p:cNvSpPr/>
          <p:nvPr/>
        </p:nvSpPr>
        <p:spPr>
          <a:xfrm>
            <a:off x="731520" y="1645920"/>
            <a:ext cx="5212080" cy="1645920"/>
          </a:xfrm>
          <a:prstGeom prst="roundRect">
            <a:avLst/>
          </a:prstGeom>
          <a:solidFill>
            <a:srgbClr val="FFFFFF"/>
          </a:solidFill>
          <a:ln w="19050">
            <a:solidFill>
              <a:srgbClr val="F0DED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914400" y="1755648"/>
            <a:ext cx="4846320" cy="1251625"/>
          </a:xfrm>
          <a:prstGeom prst="rect">
            <a:avLst/>
          </a:prstGeom>
          <a:noFill/>
        </p:spPr>
        <p:txBody>
          <a:bodyPr wrap="square" lIns="0" tIns="0" rIns="0" bIns="0">
            <a:spAutoFit/>
          </a:bodyPr>
          <a:lstStyle/>
          <a:p>
            <a:pPr>
              <a:spcAft>
                <a:spcPts val="200"/>
              </a:spcAft>
              <a:defRPr sz="950" b="1">
                <a:solidFill>
                  <a:srgbClr val="D9663C"/>
                </a:solidFill>
                <a:latin typeface="Georgia"/>
              </a:defRPr>
            </a:pPr>
            <a:r>
              <a:rPr sz="1400" dirty="0"/>
              <a:t>LAYER 1 • CLIENT &amp; KINEMATICS  [Client-Side Engine]</a:t>
            </a:r>
          </a:p>
          <a:p>
            <a:pPr>
              <a:spcAft>
                <a:spcPts val="400"/>
              </a:spcAft>
              <a:defRPr sz="1200" b="1">
                <a:solidFill>
                  <a:srgbClr val="2C2420"/>
                </a:solidFill>
                <a:latin typeface="Arial"/>
              </a:defRPr>
            </a:pPr>
            <a:r>
              <a:rPr sz="1200" dirty="0"/>
              <a:t>Next.js 16 • Three.js • @pixiv/three-vrm • Web Audio API</a:t>
            </a:r>
          </a:p>
          <a:p>
            <a:pPr>
              <a:spcAft>
                <a:spcPts val="150"/>
              </a:spcAft>
              <a:defRPr sz="880">
                <a:solidFill>
                  <a:srgbClr val="786A60"/>
                </a:solidFill>
                <a:latin typeface="Arial"/>
              </a:defRPr>
            </a:pPr>
            <a:r>
              <a:rPr sz="1100" dirty="0"/>
              <a:t>• Client-Side Energy VAD (</a:t>
            </a:r>
            <a:r>
              <a:rPr sz="1100" dirty="0" err="1"/>
              <a:t>Silero</a:t>
            </a:r>
            <a:r>
              <a:rPr sz="1100" dirty="0"/>
              <a:t>-inspired) with 800ms auto-silence cutoff.</a:t>
            </a:r>
          </a:p>
          <a:p>
            <a:pPr>
              <a:spcAft>
                <a:spcPts val="150"/>
              </a:spcAft>
              <a:defRPr sz="880">
                <a:solidFill>
                  <a:srgbClr val="786A60"/>
                </a:solidFill>
                <a:latin typeface="Arial"/>
              </a:defRPr>
            </a:pPr>
            <a:r>
              <a:rPr sz="1100" dirty="0"/>
              <a:t>• Web Audio FFT </a:t>
            </a:r>
            <a:r>
              <a:rPr sz="1100" dirty="0" err="1"/>
              <a:t>AnalyserNode</a:t>
            </a:r>
            <a:r>
              <a:rPr sz="1100" dirty="0"/>
              <a:t> feeding real-time mouth morph </a:t>
            </a:r>
            <a:r>
              <a:rPr sz="1100" dirty="0" err="1"/>
              <a:t>blendshapes</a:t>
            </a:r>
            <a:r>
              <a:rPr sz="1100" dirty="0"/>
              <a:t>.</a:t>
            </a:r>
          </a:p>
          <a:p>
            <a:pPr>
              <a:spcAft>
                <a:spcPts val="150"/>
              </a:spcAft>
              <a:defRPr sz="880">
                <a:solidFill>
                  <a:srgbClr val="786A60"/>
                </a:solidFill>
                <a:latin typeface="Arial"/>
              </a:defRPr>
            </a:pPr>
            <a:r>
              <a:rPr sz="1100" dirty="0"/>
              <a:t>• Continuous hands-free 'Live Voice Call' toggle with barge-in interruption.</a:t>
            </a:r>
          </a:p>
        </p:txBody>
      </p:sp>
      <p:sp>
        <p:nvSpPr>
          <p:cNvPr id="7" name="Rounded Rectangle 6"/>
          <p:cNvSpPr/>
          <p:nvPr/>
        </p:nvSpPr>
        <p:spPr>
          <a:xfrm>
            <a:off x="6217920" y="1645920"/>
            <a:ext cx="5212080" cy="1645920"/>
          </a:xfrm>
          <a:prstGeom prst="roundRect">
            <a:avLst/>
          </a:prstGeom>
          <a:solidFill>
            <a:srgbClr val="FFFFFF"/>
          </a:solidFill>
          <a:ln w="19050">
            <a:solidFill>
              <a:srgbClr val="F0DED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6400800" y="1755648"/>
            <a:ext cx="4846320" cy="1451679"/>
          </a:xfrm>
          <a:prstGeom prst="rect">
            <a:avLst/>
          </a:prstGeom>
          <a:noFill/>
        </p:spPr>
        <p:txBody>
          <a:bodyPr wrap="square" lIns="0" tIns="0" rIns="0" bIns="0">
            <a:spAutoFit/>
          </a:bodyPr>
          <a:lstStyle/>
          <a:p>
            <a:pPr>
              <a:spcAft>
                <a:spcPts val="200"/>
              </a:spcAft>
              <a:defRPr sz="950" b="1">
                <a:solidFill>
                  <a:srgbClr val="D9663C"/>
                </a:solidFill>
                <a:latin typeface="Georgia"/>
              </a:defRPr>
            </a:pPr>
            <a:r>
              <a:rPr sz="1400" dirty="0"/>
              <a:t>LAYER 2 • COGNITIVE BRAIN &amp; STT  [&lt;180ms Inference]</a:t>
            </a:r>
          </a:p>
          <a:p>
            <a:pPr>
              <a:spcAft>
                <a:spcPts val="400"/>
              </a:spcAft>
              <a:defRPr sz="1200" b="1">
                <a:solidFill>
                  <a:srgbClr val="2C2420"/>
                </a:solidFill>
                <a:latin typeface="Arial"/>
              </a:defRPr>
            </a:pPr>
            <a:r>
              <a:rPr sz="1400" dirty="0" err="1"/>
              <a:t>Groq</a:t>
            </a:r>
            <a:r>
              <a:rPr sz="1400" dirty="0"/>
              <a:t> Llama 3.3 70B &amp; Whisper Large-v3-Turbo</a:t>
            </a:r>
          </a:p>
          <a:p>
            <a:pPr>
              <a:spcAft>
                <a:spcPts val="150"/>
              </a:spcAft>
              <a:defRPr sz="880">
                <a:solidFill>
                  <a:srgbClr val="786A60"/>
                </a:solidFill>
                <a:latin typeface="Arial"/>
              </a:defRPr>
            </a:pPr>
            <a:r>
              <a:rPr dirty="0"/>
              <a:t>• </a:t>
            </a:r>
            <a:r>
              <a:rPr sz="1100" b="1" dirty="0"/>
              <a:t>Sub-150ms Speech-to-Text with automatic WAV/WEBM format sniffing.</a:t>
            </a:r>
          </a:p>
          <a:p>
            <a:pPr>
              <a:spcAft>
                <a:spcPts val="150"/>
              </a:spcAft>
              <a:defRPr sz="880">
                <a:solidFill>
                  <a:srgbClr val="786A60"/>
                </a:solidFill>
                <a:latin typeface="Arial"/>
              </a:defRPr>
            </a:pPr>
            <a:r>
              <a:rPr sz="1100" b="1" dirty="0"/>
              <a:t>• 350-Token Strict </a:t>
            </a:r>
            <a:r>
              <a:rPr sz="1100" b="1" dirty="0" err="1"/>
              <a:t>Groq</a:t>
            </a:r>
            <a:r>
              <a:rPr sz="1100" b="1" dirty="0"/>
              <a:t> Budget ensures punchy, natural spoken cadence.</a:t>
            </a:r>
          </a:p>
          <a:p>
            <a:pPr>
              <a:spcAft>
                <a:spcPts val="150"/>
              </a:spcAft>
              <a:defRPr sz="880">
                <a:solidFill>
                  <a:srgbClr val="786A60"/>
                </a:solidFill>
                <a:latin typeface="Arial"/>
              </a:defRPr>
            </a:pPr>
            <a:r>
              <a:rPr sz="1100" b="1" dirty="0"/>
              <a:t>• Fine-tuned context prompt specializing in Indian competitive exams.</a:t>
            </a:r>
          </a:p>
        </p:txBody>
      </p:sp>
      <p:sp>
        <p:nvSpPr>
          <p:cNvPr id="9" name="Rounded Rectangle 8"/>
          <p:cNvSpPr/>
          <p:nvPr/>
        </p:nvSpPr>
        <p:spPr>
          <a:xfrm>
            <a:off x="731520" y="3429000"/>
            <a:ext cx="5212080" cy="1645920"/>
          </a:xfrm>
          <a:prstGeom prst="roundRect">
            <a:avLst/>
          </a:prstGeom>
          <a:solidFill>
            <a:srgbClr val="FFFFFF"/>
          </a:solidFill>
          <a:ln w="19050">
            <a:solidFill>
              <a:srgbClr val="F0DED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914400" y="3538728"/>
            <a:ext cx="4846320" cy="1420902"/>
          </a:xfrm>
          <a:prstGeom prst="rect">
            <a:avLst/>
          </a:prstGeom>
          <a:noFill/>
        </p:spPr>
        <p:txBody>
          <a:bodyPr wrap="square" lIns="0" tIns="0" rIns="0" bIns="0">
            <a:spAutoFit/>
          </a:bodyPr>
          <a:lstStyle/>
          <a:p>
            <a:pPr>
              <a:spcAft>
                <a:spcPts val="200"/>
              </a:spcAft>
              <a:defRPr sz="950" b="1">
                <a:solidFill>
                  <a:srgbClr val="D9663C"/>
                </a:solidFill>
                <a:latin typeface="Georgia"/>
              </a:defRPr>
            </a:pPr>
            <a:r>
              <a:rPr sz="1400" dirty="0"/>
              <a:t>LAYER 3 • KINEMATIC GESTURE DIRECTOR  [Parallel Co-Director]</a:t>
            </a:r>
          </a:p>
          <a:p>
            <a:pPr>
              <a:spcAft>
                <a:spcPts val="400"/>
              </a:spcAft>
              <a:defRPr sz="1200" b="1">
                <a:solidFill>
                  <a:srgbClr val="2C2420"/>
                </a:solidFill>
                <a:latin typeface="Arial"/>
              </a:defRPr>
            </a:pPr>
            <a:r>
              <a:rPr dirty="0"/>
              <a:t>Google Gemini 3.6 Flash (Parallel Inference)</a:t>
            </a:r>
          </a:p>
          <a:p>
            <a:pPr>
              <a:spcAft>
                <a:spcPts val="150"/>
              </a:spcAft>
              <a:defRPr sz="880">
                <a:solidFill>
                  <a:srgbClr val="786A60"/>
                </a:solidFill>
                <a:latin typeface="Arial"/>
              </a:defRPr>
            </a:pPr>
            <a:r>
              <a:rPr sz="1100" b="1" dirty="0"/>
              <a:t>• Real-Time Director analyzing student emotional temperature in parallel.</a:t>
            </a:r>
          </a:p>
          <a:p>
            <a:pPr>
              <a:spcAft>
                <a:spcPts val="150"/>
              </a:spcAft>
              <a:defRPr sz="880">
                <a:solidFill>
                  <a:srgbClr val="786A60"/>
                </a:solidFill>
                <a:latin typeface="Arial"/>
              </a:defRPr>
            </a:pPr>
            <a:r>
              <a:rPr sz="1100" b="1" dirty="0"/>
              <a:t>• Selects from 9 distinct avatar gestures (</a:t>
            </a:r>
            <a:r>
              <a:rPr sz="1100" b="1" dirty="0" err="1"/>
              <a:t>hand_to_heart</a:t>
            </a:r>
            <a:r>
              <a:rPr sz="1100" b="1" dirty="0"/>
              <a:t>, </a:t>
            </a:r>
            <a:r>
              <a:rPr sz="1100" b="1" dirty="0" err="1"/>
              <a:t>reassuring_palms</a:t>
            </a:r>
            <a:r>
              <a:rPr sz="1100" b="1" dirty="0"/>
              <a:t>).</a:t>
            </a:r>
          </a:p>
          <a:p>
            <a:pPr>
              <a:spcAft>
                <a:spcPts val="150"/>
              </a:spcAft>
              <a:defRPr sz="880">
                <a:solidFill>
                  <a:srgbClr val="786A60"/>
                </a:solidFill>
                <a:latin typeface="Arial"/>
              </a:defRPr>
            </a:pPr>
            <a:r>
              <a:rPr sz="1100" b="1" dirty="0"/>
              <a:t>• Controls smile intensity, head tilt angle, and kinetic emotional energy.</a:t>
            </a:r>
          </a:p>
        </p:txBody>
      </p:sp>
      <p:sp>
        <p:nvSpPr>
          <p:cNvPr id="11" name="Rounded Rectangle 10"/>
          <p:cNvSpPr/>
          <p:nvPr/>
        </p:nvSpPr>
        <p:spPr>
          <a:xfrm>
            <a:off x="6217920" y="3429000"/>
            <a:ext cx="5212080" cy="1645920"/>
          </a:xfrm>
          <a:prstGeom prst="roundRect">
            <a:avLst/>
          </a:prstGeom>
          <a:solidFill>
            <a:srgbClr val="FFFFFF"/>
          </a:solidFill>
          <a:ln w="19050">
            <a:solidFill>
              <a:srgbClr val="F0DED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6400800" y="3538728"/>
            <a:ext cx="4846320" cy="1259319"/>
          </a:xfrm>
          <a:prstGeom prst="rect">
            <a:avLst/>
          </a:prstGeom>
          <a:noFill/>
        </p:spPr>
        <p:txBody>
          <a:bodyPr wrap="square" lIns="0" tIns="0" rIns="0" bIns="0">
            <a:spAutoFit/>
          </a:bodyPr>
          <a:lstStyle/>
          <a:p>
            <a:pPr>
              <a:spcAft>
                <a:spcPts val="200"/>
              </a:spcAft>
              <a:defRPr sz="950" b="1">
                <a:solidFill>
                  <a:srgbClr val="D9663C"/>
                </a:solidFill>
                <a:latin typeface="Georgia"/>
              </a:defRPr>
            </a:pPr>
            <a:r>
              <a:rPr sz="1400" dirty="0"/>
              <a:t>LAYER 4 • VOICE SYNTHESIS &amp; SAFETY  [24kHz Linear PCM]</a:t>
            </a:r>
          </a:p>
          <a:p>
            <a:pPr>
              <a:spcAft>
                <a:spcPts val="400"/>
              </a:spcAft>
              <a:defRPr sz="1200" b="1">
                <a:solidFill>
                  <a:srgbClr val="2C2420"/>
                </a:solidFill>
                <a:latin typeface="Arial"/>
              </a:defRPr>
            </a:pPr>
            <a:r>
              <a:rPr sz="1400" dirty="0"/>
              <a:t>Gnani.ai Timbre-v2.5 &amp; Tele-MANAS SOS Router</a:t>
            </a:r>
          </a:p>
          <a:p>
            <a:pPr>
              <a:spcAft>
                <a:spcPts val="150"/>
              </a:spcAft>
              <a:defRPr sz="880">
                <a:solidFill>
                  <a:srgbClr val="786A60"/>
                </a:solidFill>
                <a:latin typeface="Arial"/>
              </a:defRPr>
            </a:pPr>
            <a:r>
              <a:rPr sz="1050" dirty="0"/>
              <a:t>• Gnani.ai 24kHz linear PCM Indian English voice co-delivered with text.</a:t>
            </a:r>
          </a:p>
          <a:p>
            <a:pPr>
              <a:spcAft>
                <a:spcPts val="150"/>
              </a:spcAft>
              <a:defRPr sz="880">
                <a:solidFill>
                  <a:srgbClr val="786A60"/>
                </a:solidFill>
                <a:latin typeface="Arial"/>
              </a:defRPr>
            </a:pPr>
            <a:r>
              <a:rPr sz="1050" dirty="0"/>
              <a:t>• Deterministic In-Memory RAG: 140 clinical items in JSON (&lt;1ms lookup).</a:t>
            </a:r>
          </a:p>
          <a:p>
            <a:pPr>
              <a:spcAft>
                <a:spcPts val="150"/>
              </a:spcAft>
              <a:defRPr sz="880">
                <a:solidFill>
                  <a:srgbClr val="786A60"/>
                </a:solidFill>
                <a:latin typeface="Arial"/>
              </a:defRPr>
            </a:pPr>
            <a:r>
              <a:rPr sz="1050" dirty="0"/>
              <a:t>• Automated Multi-Channel SOS: Twilio, WhatsApp wa.me &amp; SMS dispatch.</a:t>
            </a:r>
          </a:p>
        </p:txBody>
      </p:sp>
      <p:sp>
        <p:nvSpPr>
          <p:cNvPr id="13" name="Rounded Rectangle 12"/>
          <p:cNvSpPr/>
          <p:nvPr/>
        </p:nvSpPr>
        <p:spPr>
          <a:xfrm>
            <a:off x="731520" y="5303520"/>
            <a:ext cx="10698480" cy="1005840"/>
          </a:xfrm>
          <a:prstGeom prst="roundRect">
            <a:avLst/>
          </a:prstGeom>
          <a:solidFill>
            <a:srgbClr val="F5FCFA"/>
          </a:solidFill>
          <a:ln w="19050">
            <a:solidFill>
              <a:srgbClr val="35756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914400" y="5394960"/>
            <a:ext cx="10332720" cy="887422"/>
          </a:xfrm>
          <a:prstGeom prst="rect">
            <a:avLst/>
          </a:prstGeom>
          <a:noFill/>
        </p:spPr>
        <p:txBody>
          <a:bodyPr wrap="square" lIns="0" tIns="0" rIns="0" bIns="0">
            <a:spAutoFit/>
          </a:bodyPr>
          <a:lstStyle/>
          <a:p>
            <a:pPr>
              <a:spcAft>
                <a:spcPts val="200"/>
              </a:spcAft>
              <a:defRPr sz="1050" b="1">
                <a:solidFill>
                  <a:srgbClr val="357568"/>
                </a:solidFill>
                <a:latin typeface="Georgia"/>
              </a:defRPr>
            </a:pPr>
            <a:r>
              <a:rPr sz="1400" dirty="0"/>
              <a:t>⚡ PERFORMANCE BENCHMARK: CONVENTIONAL CHATBOTS vs. MOODMITRA DUAL-ENGINE</a:t>
            </a:r>
          </a:p>
          <a:p>
            <a:pPr>
              <a:defRPr sz="950" b="1">
                <a:solidFill>
                  <a:srgbClr val="2C2420"/>
                </a:solidFill>
                <a:latin typeface="Arial"/>
              </a:defRPr>
            </a:pPr>
            <a:r>
              <a:rPr sz="1400" dirty="0"/>
              <a:t>• Conventional Chatbots: 8.5s–12s voice roundtrip  |  Text-only walls  |  Robotic cheerleading  |  Passive hotline links</a:t>
            </a:r>
            <a:br>
              <a:rPr sz="1400" dirty="0"/>
            </a:br>
            <a:r>
              <a:rPr sz="1400" dirty="0"/>
              <a:t>• </a:t>
            </a:r>
            <a:r>
              <a:rPr sz="1400" dirty="0" err="1"/>
              <a:t>MoodMitra</a:t>
            </a:r>
            <a:r>
              <a:rPr sz="1400" dirty="0"/>
              <a:t> Dual-Engine: &lt;2.3s Total Roundtrip Latency  |  Embodied 3D Avatar  |  3-Stage Empathy  |  &lt;1ms Deterministic SOS</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FF9F2"/>
        </a:solidFill>
        <a:effectLst/>
      </p:bgPr>
    </p:bg>
    <p:spTree>
      <p:nvGrpSpPr>
        <p:cNvPr id="1" name=""/>
        <p:cNvGrpSpPr/>
        <p:nvPr/>
      </p:nvGrpSpPr>
      <p:grpSpPr>
        <a:xfrm>
          <a:off x="0" y="0"/>
          <a:ext cx="0" cy="0"/>
          <a:chOff x="0" y="0"/>
          <a:chExt cx="0" cy="0"/>
        </a:xfrm>
      </p:grpSpPr>
      <p:sp>
        <p:nvSpPr>
          <p:cNvPr id="2" name="TextBox 1"/>
          <p:cNvSpPr txBox="1"/>
          <p:nvPr/>
        </p:nvSpPr>
        <p:spPr>
          <a:xfrm>
            <a:off x="731520" y="365760"/>
            <a:ext cx="10698480" cy="246221"/>
          </a:xfrm>
          <a:prstGeom prst="rect">
            <a:avLst/>
          </a:prstGeom>
          <a:noFill/>
        </p:spPr>
        <p:txBody>
          <a:bodyPr wrap="square" lIns="0" tIns="0" rIns="0" bIns="0">
            <a:spAutoFit/>
          </a:bodyPr>
          <a:lstStyle/>
          <a:p>
            <a:pPr>
              <a:defRPr sz="1000" b="1">
                <a:solidFill>
                  <a:srgbClr val="D9663C"/>
                </a:solidFill>
                <a:latin typeface="Georgia"/>
              </a:defRPr>
            </a:pPr>
            <a:r>
              <a:rPr sz="1600" dirty="0"/>
              <a:t>04. MARKET RESEARCH &amp; DATA RIGOR</a:t>
            </a:r>
          </a:p>
        </p:txBody>
      </p:sp>
      <p:sp>
        <p:nvSpPr>
          <p:cNvPr id="3" name="TextBox 2"/>
          <p:cNvSpPr txBox="1"/>
          <p:nvPr/>
        </p:nvSpPr>
        <p:spPr>
          <a:xfrm>
            <a:off x="731520" y="658368"/>
            <a:ext cx="10698480" cy="502920"/>
          </a:xfrm>
          <a:prstGeom prst="rect">
            <a:avLst/>
          </a:prstGeom>
          <a:noFill/>
        </p:spPr>
        <p:txBody>
          <a:bodyPr wrap="square" lIns="0" tIns="0" rIns="0" bIns="0">
            <a:spAutoFit/>
          </a:bodyPr>
          <a:lstStyle/>
          <a:p>
            <a:pPr>
              <a:defRPr sz="2200" b="1">
                <a:solidFill>
                  <a:srgbClr val="2C2420"/>
                </a:solidFill>
                <a:latin typeface="Georgia"/>
              </a:defRPr>
            </a:pPr>
            <a:r>
              <a:t>$1.2B Market Sizing &amp; Grounded Clinical Repositories</a:t>
            </a:r>
          </a:p>
        </p:txBody>
      </p:sp>
      <p:sp>
        <p:nvSpPr>
          <p:cNvPr id="4" name="TextBox 3"/>
          <p:cNvSpPr txBox="1"/>
          <p:nvPr/>
        </p:nvSpPr>
        <p:spPr>
          <a:xfrm>
            <a:off x="731520" y="1188720"/>
            <a:ext cx="10698480" cy="246221"/>
          </a:xfrm>
          <a:prstGeom prst="rect">
            <a:avLst/>
          </a:prstGeom>
          <a:noFill/>
        </p:spPr>
        <p:txBody>
          <a:bodyPr wrap="square" lIns="0" tIns="0" rIns="0" bIns="0">
            <a:spAutoFit/>
          </a:bodyPr>
          <a:lstStyle/>
          <a:p>
            <a:pPr>
              <a:defRPr sz="1100">
                <a:solidFill>
                  <a:srgbClr val="786A60"/>
                </a:solidFill>
                <a:latin typeface="Arial"/>
              </a:defRPr>
            </a:pPr>
            <a:r>
              <a:rPr sz="1600" dirty="0"/>
              <a:t>Targeting 45M Indian students backed by validated therapeutic datasets and Govt. health infrastructure.</a:t>
            </a:r>
          </a:p>
        </p:txBody>
      </p:sp>
      <p:sp>
        <p:nvSpPr>
          <p:cNvPr id="5" name="Rounded Rectangle 4"/>
          <p:cNvSpPr/>
          <p:nvPr/>
        </p:nvSpPr>
        <p:spPr>
          <a:xfrm>
            <a:off x="731520" y="1645920"/>
            <a:ext cx="5120640" cy="4663440"/>
          </a:xfrm>
          <a:prstGeom prst="roundRect">
            <a:avLst/>
          </a:prstGeom>
          <a:solidFill>
            <a:srgbClr val="FFFFFF"/>
          </a:solidFill>
          <a:ln w="19050">
            <a:solidFill>
              <a:srgbClr val="F0DED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944880" y="1920979"/>
            <a:ext cx="4754880" cy="4388381"/>
          </a:xfrm>
          <a:prstGeom prst="rect">
            <a:avLst/>
          </a:prstGeom>
          <a:noFill/>
        </p:spPr>
        <p:txBody>
          <a:bodyPr wrap="square" lIns="0" tIns="0" rIns="0" bIns="0">
            <a:spAutoFit/>
          </a:bodyPr>
          <a:lstStyle/>
          <a:p>
            <a:pPr>
              <a:spcAft>
                <a:spcPts val="800"/>
              </a:spcAft>
              <a:defRPr sz="1100" b="1">
                <a:solidFill>
                  <a:srgbClr val="D9663C"/>
                </a:solidFill>
                <a:latin typeface="Georgia"/>
              </a:defRPr>
            </a:pPr>
            <a:r>
              <a:rPr sz="1400" dirty="0"/>
              <a:t>MARKET OPPORTUNITY &amp; BUSINESS MODEL</a:t>
            </a:r>
          </a:p>
          <a:p>
            <a:pPr>
              <a:defRPr sz="1300" b="1">
                <a:solidFill>
                  <a:srgbClr val="D9663C"/>
                </a:solidFill>
                <a:latin typeface="Georgia"/>
              </a:defRPr>
            </a:pPr>
            <a:r>
              <a:rPr dirty="0"/>
              <a:t>TAM: $1.2B (45M Students)</a:t>
            </a:r>
          </a:p>
          <a:p>
            <a:pPr>
              <a:spcAft>
                <a:spcPts val="800"/>
              </a:spcAft>
              <a:defRPr sz="950">
                <a:solidFill>
                  <a:srgbClr val="786A60"/>
                </a:solidFill>
                <a:latin typeface="Arial"/>
              </a:defRPr>
            </a:pPr>
            <a:r>
              <a:rPr sz="1600" dirty="0"/>
              <a:t>Total Indian test-prep, competitive coaching &amp; higher secondary student market.</a:t>
            </a:r>
          </a:p>
          <a:p>
            <a:pPr>
              <a:defRPr sz="1300" b="1">
                <a:solidFill>
                  <a:srgbClr val="2C2420"/>
                </a:solidFill>
                <a:latin typeface="Georgia"/>
              </a:defRPr>
            </a:pPr>
            <a:r>
              <a:rPr dirty="0"/>
              <a:t>SAM: $320M (12M Coaching Aspirants)</a:t>
            </a:r>
          </a:p>
          <a:p>
            <a:pPr>
              <a:spcAft>
                <a:spcPts val="800"/>
              </a:spcAft>
              <a:defRPr sz="950">
                <a:solidFill>
                  <a:srgbClr val="786A60"/>
                </a:solidFill>
                <a:latin typeface="Arial"/>
              </a:defRPr>
            </a:pPr>
            <a:r>
              <a:rPr sz="1600" dirty="0"/>
              <a:t>Students enrolled in intensive offline &amp; online coaching centers (Kota, Hyderabad, Allen, Aakash).</a:t>
            </a:r>
          </a:p>
          <a:p>
            <a:pPr>
              <a:defRPr sz="1300" b="1">
                <a:solidFill>
                  <a:srgbClr val="357568"/>
                </a:solidFill>
                <a:latin typeface="Georgia"/>
              </a:defRPr>
            </a:pPr>
            <a:r>
              <a:rPr dirty="0"/>
              <a:t>SOM: $24M (500K Early Adopters)</a:t>
            </a:r>
          </a:p>
          <a:p>
            <a:pPr>
              <a:spcAft>
                <a:spcPts val="800"/>
              </a:spcAft>
              <a:defRPr sz="950">
                <a:solidFill>
                  <a:srgbClr val="786A60"/>
                </a:solidFill>
                <a:latin typeface="Arial"/>
              </a:defRPr>
            </a:pPr>
            <a:r>
              <a:rPr sz="1600" dirty="0"/>
              <a:t>Initial beachhead: NEET &amp; JEE droppers and repeaters seeking dedicated emotional support companions.</a:t>
            </a:r>
          </a:p>
          <a:p>
            <a:pPr>
              <a:spcAft>
                <a:spcPts val="300"/>
              </a:spcAft>
              <a:defRPr sz="1050" b="1">
                <a:solidFill>
                  <a:srgbClr val="D9663C"/>
                </a:solidFill>
                <a:latin typeface="Georgia"/>
              </a:defRPr>
            </a:pPr>
            <a:r>
              <a:rPr sz="1100" dirty="0"/>
              <a:t>MONETIZATION STRATEGY:</a:t>
            </a:r>
          </a:p>
          <a:p>
            <a:pPr>
              <a:defRPr sz="950">
                <a:solidFill>
                  <a:srgbClr val="2C2420"/>
                </a:solidFill>
                <a:latin typeface="Arial"/>
              </a:defRPr>
            </a:pPr>
            <a:r>
              <a:rPr sz="1600" dirty="0"/>
              <a:t>• B2C Freemium: Free daily chats + ₹299/</a:t>
            </a:r>
            <a:r>
              <a:rPr sz="1600" dirty="0" err="1"/>
              <a:t>mo</a:t>
            </a:r>
            <a:r>
              <a:rPr sz="1600" dirty="0"/>
              <a:t> Pro (Unlimited voice calls, anxiety reports).</a:t>
            </a:r>
            <a:br>
              <a:rPr sz="1600" dirty="0"/>
            </a:br>
            <a:r>
              <a:rPr sz="1600" dirty="0"/>
              <a:t>• B2B Institutional: White-label coaching dashboard for batch burnout heatmaps.</a:t>
            </a:r>
            <a:endParaRPr lang="en-US" sz="1600" dirty="0"/>
          </a:p>
          <a:p>
            <a:pPr>
              <a:defRPr sz="950">
                <a:solidFill>
                  <a:srgbClr val="2C2420"/>
                </a:solidFill>
                <a:latin typeface="Arial"/>
              </a:defRPr>
            </a:pPr>
            <a:endParaRPr sz="1600" dirty="0"/>
          </a:p>
        </p:txBody>
      </p:sp>
      <p:sp>
        <p:nvSpPr>
          <p:cNvPr id="7" name="Rounded Rectangle 6"/>
          <p:cNvSpPr/>
          <p:nvPr/>
        </p:nvSpPr>
        <p:spPr>
          <a:xfrm>
            <a:off x="6126480" y="1645920"/>
            <a:ext cx="5303520" cy="4663440"/>
          </a:xfrm>
          <a:prstGeom prst="roundRect">
            <a:avLst/>
          </a:prstGeom>
          <a:solidFill>
            <a:srgbClr val="FFFFFF"/>
          </a:solidFill>
          <a:ln w="19050">
            <a:solidFill>
              <a:srgbClr val="F0DED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6419088" y="1920979"/>
            <a:ext cx="4937760" cy="3965188"/>
          </a:xfrm>
          <a:prstGeom prst="rect">
            <a:avLst/>
          </a:prstGeom>
          <a:noFill/>
        </p:spPr>
        <p:txBody>
          <a:bodyPr wrap="square" lIns="0" tIns="0" rIns="0" bIns="0">
            <a:spAutoFit/>
          </a:bodyPr>
          <a:lstStyle/>
          <a:p>
            <a:pPr>
              <a:spcAft>
                <a:spcPts val="800"/>
              </a:spcAft>
              <a:defRPr sz="1100" b="1">
                <a:solidFill>
                  <a:srgbClr val="D9663C"/>
                </a:solidFill>
                <a:latin typeface="Georgia"/>
              </a:defRPr>
            </a:pPr>
            <a:r>
              <a:rPr sz="1200" dirty="0"/>
              <a:t>CURATED CLINICAL &amp; HINGLISH REPOSITORIES</a:t>
            </a:r>
          </a:p>
          <a:p>
            <a:pPr>
              <a:defRPr sz="1150" b="1">
                <a:solidFill>
                  <a:srgbClr val="2C2420"/>
                </a:solidFill>
                <a:latin typeface="Georgia"/>
              </a:defRPr>
            </a:pPr>
            <a:r>
              <a:rPr sz="1200" dirty="0"/>
              <a:t>🔹 </a:t>
            </a:r>
            <a:r>
              <a:rPr sz="1200" dirty="0" err="1"/>
              <a:t>nbertagnolli</a:t>
            </a:r>
            <a:r>
              <a:rPr sz="1200" dirty="0"/>
              <a:t>/counsel-chat (Hugging Face)</a:t>
            </a:r>
          </a:p>
          <a:p>
            <a:pPr>
              <a:spcAft>
                <a:spcPts val="600"/>
              </a:spcAft>
              <a:defRPr sz="900">
                <a:solidFill>
                  <a:srgbClr val="786A60"/>
                </a:solidFill>
                <a:latin typeface="Arial"/>
              </a:defRPr>
            </a:pPr>
            <a:r>
              <a:rPr sz="1400" dirty="0"/>
              <a:t>2,000+ real therapy questions answered by licensed practitioners; gold standard for training pain validation over toxic cheerleading.</a:t>
            </a:r>
          </a:p>
          <a:p>
            <a:pPr>
              <a:defRPr sz="1150" b="1">
                <a:solidFill>
                  <a:srgbClr val="2C2420"/>
                </a:solidFill>
                <a:latin typeface="Georgia"/>
              </a:defRPr>
            </a:pPr>
            <a:r>
              <a:rPr sz="1200" dirty="0"/>
              <a:t>🔹 </a:t>
            </a:r>
            <a:r>
              <a:rPr sz="1200" dirty="0" err="1"/>
              <a:t>bdotloh</a:t>
            </a:r>
            <a:r>
              <a:rPr sz="1200" dirty="0"/>
              <a:t>/empathetic-dialogues (Meta AI)</a:t>
            </a:r>
          </a:p>
          <a:p>
            <a:pPr>
              <a:spcAft>
                <a:spcPts val="600"/>
              </a:spcAft>
              <a:defRPr sz="900">
                <a:solidFill>
                  <a:srgbClr val="786A60"/>
                </a:solidFill>
                <a:latin typeface="Arial"/>
              </a:defRPr>
            </a:pPr>
            <a:r>
              <a:rPr sz="1400" dirty="0"/>
              <a:t>25,000+ grounded conversations mapping 32 distinct emotional states (panic, loneliness, exam dread) to supportive responses.</a:t>
            </a:r>
          </a:p>
          <a:p>
            <a:pPr>
              <a:defRPr sz="1150" b="1">
                <a:solidFill>
                  <a:srgbClr val="2C2420"/>
                </a:solidFill>
                <a:latin typeface="Georgia"/>
              </a:defRPr>
            </a:pPr>
            <a:r>
              <a:rPr sz="1200" dirty="0"/>
              <a:t>🔹 l3cube-pune/</a:t>
            </a:r>
            <a:r>
              <a:rPr sz="1200" dirty="0" err="1"/>
              <a:t>hinglish</a:t>
            </a:r>
            <a:r>
              <a:rPr sz="1200" dirty="0"/>
              <a:t>-sentiment (Hugging Face)</a:t>
            </a:r>
          </a:p>
          <a:p>
            <a:pPr>
              <a:spcAft>
                <a:spcPts val="600"/>
              </a:spcAft>
              <a:defRPr sz="900">
                <a:solidFill>
                  <a:srgbClr val="786A60"/>
                </a:solidFill>
                <a:latin typeface="Arial"/>
              </a:defRPr>
            </a:pPr>
            <a:r>
              <a:rPr sz="1400" dirty="0"/>
              <a:t>Major code-mixed sentiment corpus teaching Mahiru to understand Indian youth vernacular: '</a:t>
            </a:r>
            <a:r>
              <a:rPr sz="1400" dirty="0" err="1"/>
              <a:t>kalesh</a:t>
            </a:r>
            <a:r>
              <a:rPr sz="1400" dirty="0"/>
              <a:t>', '</a:t>
            </a:r>
            <a:r>
              <a:rPr sz="1400" dirty="0" err="1"/>
              <a:t>fati</a:t>
            </a:r>
            <a:r>
              <a:rPr sz="1400" dirty="0"/>
              <a:t> padi </a:t>
            </a:r>
            <a:r>
              <a:rPr sz="1400" dirty="0" err="1"/>
              <a:t>hai</a:t>
            </a:r>
            <a:r>
              <a:rPr sz="1400" dirty="0"/>
              <a:t>', '</a:t>
            </a:r>
            <a:r>
              <a:rPr sz="1400" dirty="0" err="1"/>
              <a:t>drame</a:t>
            </a:r>
            <a:r>
              <a:rPr sz="1400" dirty="0"/>
              <a:t>'.</a:t>
            </a:r>
          </a:p>
          <a:p>
            <a:pPr>
              <a:defRPr sz="1150" b="1">
                <a:solidFill>
                  <a:srgbClr val="2C2420"/>
                </a:solidFill>
                <a:latin typeface="Georgia"/>
              </a:defRPr>
            </a:pPr>
            <a:r>
              <a:rPr sz="1200" dirty="0"/>
              <a:t>🔹 Tele-MANAS &amp; KIRAN National Protocol</a:t>
            </a:r>
          </a:p>
          <a:p>
            <a:pPr>
              <a:spcAft>
                <a:spcPts val="600"/>
              </a:spcAft>
              <a:defRPr sz="900">
                <a:solidFill>
                  <a:srgbClr val="786A60"/>
                </a:solidFill>
                <a:latin typeface="Arial"/>
              </a:defRPr>
            </a:pPr>
            <a:r>
              <a:rPr sz="1400" dirty="0"/>
              <a:t>Direct alignment with Govt. of India Ministry of Health guidelines for 24/7 mental health crisis routing and helpline 14416.</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FF9F2"/>
        </a:solidFill>
        <a:effectLst/>
      </p:bgPr>
    </p:bg>
    <p:spTree>
      <p:nvGrpSpPr>
        <p:cNvPr id="1" name=""/>
        <p:cNvGrpSpPr/>
        <p:nvPr/>
      </p:nvGrpSpPr>
      <p:grpSpPr>
        <a:xfrm>
          <a:off x="0" y="0"/>
          <a:ext cx="0" cy="0"/>
          <a:chOff x="0" y="0"/>
          <a:chExt cx="0" cy="0"/>
        </a:xfrm>
      </p:grpSpPr>
      <p:sp>
        <p:nvSpPr>
          <p:cNvPr id="2" name="TextBox 1"/>
          <p:cNvSpPr txBox="1"/>
          <p:nvPr/>
        </p:nvSpPr>
        <p:spPr>
          <a:xfrm>
            <a:off x="731520" y="365760"/>
            <a:ext cx="10698480" cy="246221"/>
          </a:xfrm>
          <a:prstGeom prst="rect">
            <a:avLst/>
          </a:prstGeom>
          <a:noFill/>
        </p:spPr>
        <p:txBody>
          <a:bodyPr wrap="square" lIns="0" tIns="0" rIns="0" bIns="0">
            <a:spAutoFit/>
          </a:bodyPr>
          <a:lstStyle/>
          <a:p>
            <a:pPr>
              <a:defRPr sz="1000" b="1">
                <a:solidFill>
                  <a:srgbClr val="D9663C"/>
                </a:solidFill>
                <a:latin typeface="Georgia"/>
              </a:defRPr>
            </a:pPr>
            <a:r>
              <a:rPr sz="1600" dirty="0"/>
              <a:t>05. EXPERIENCE MAHIRU LIVE</a:t>
            </a:r>
          </a:p>
        </p:txBody>
      </p:sp>
      <p:sp>
        <p:nvSpPr>
          <p:cNvPr id="3" name="TextBox 2"/>
          <p:cNvSpPr txBox="1"/>
          <p:nvPr/>
        </p:nvSpPr>
        <p:spPr>
          <a:xfrm>
            <a:off x="731520" y="658368"/>
            <a:ext cx="10698480" cy="502920"/>
          </a:xfrm>
          <a:prstGeom prst="rect">
            <a:avLst/>
          </a:prstGeom>
          <a:noFill/>
        </p:spPr>
        <p:txBody>
          <a:bodyPr wrap="square" lIns="0" tIns="0" rIns="0" bIns="0">
            <a:spAutoFit/>
          </a:bodyPr>
          <a:lstStyle/>
          <a:p>
            <a:pPr>
              <a:defRPr sz="2200" b="1">
                <a:solidFill>
                  <a:srgbClr val="2C2420"/>
                </a:solidFill>
                <a:latin typeface="Georgia"/>
              </a:defRPr>
            </a:pPr>
            <a:r>
              <a:t>Every Student Deserves a Safe Space to Be Heard</a:t>
            </a:r>
          </a:p>
        </p:txBody>
      </p:sp>
      <p:sp>
        <p:nvSpPr>
          <p:cNvPr id="4" name="TextBox 3"/>
          <p:cNvSpPr txBox="1"/>
          <p:nvPr/>
        </p:nvSpPr>
        <p:spPr>
          <a:xfrm>
            <a:off x="731520" y="1188720"/>
            <a:ext cx="10698480" cy="246221"/>
          </a:xfrm>
          <a:prstGeom prst="rect">
            <a:avLst/>
          </a:prstGeom>
          <a:noFill/>
        </p:spPr>
        <p:txBody>
          <a:bodyPr wrap="square" lIns="0" tIns="0" rIns="0" bIns="0">
            <a:spAutoFit/>
          </a:bodyPr>
          <a:lstStyle/>
          <a:p>
            <a:pPr>
              <a:defRPr sz="1100">
                <a:solidFill>
                  <a:srgbClr val="786A60"/>
                </a:solidFill>
                <a:latin typeface="Arial"/>
              </a:defRPr>
            </a:pPr>
            <a:r>
              <a:rPr sz="1600" dirty="0"/>
              <a:t>Experience Mahiru live right now on </a:t>
            </a:r>
            <a:r>
              <a:rPr sz="1600" dirty="0" err="1"/>
              <a:t>Vercel</a:t>
            </a:r>
            <a:r>
              <a:rPr sz="1600" dirty="0"/>
              <a:t> and inspect our open-source codebase.</a:t>
            </a:r>
          </a:p>
        </p:txBody>
      </p:sp>
      <p:sp>
        <p:nvSpPr>
          <p:cNvPr id="5" name="Rounded Rectangle 4"/>
          <p:cNvSpPr/>
          <p:nvPr/>
        </p:nvSpPr>
        <p:spPr>
          <a:xfrm>
            <a:off x="731520" y="1645920"/>
            <a:ext cx="5120640" cy="4663440"/>
          </a:xfrm>
          <a:prstGeom prst="roundRect">
            <a:avLst/>
          </a:prstGeom>
          <a:solidFill>
            <a:srgbClr val="FFFFFF"/>
          </a:solidFill>
          <a:ln w="19050">
            <a:solidFill>
              <a:srgbClr val="F0DED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6" name="Picture 5" descr="logo.png"/>
          <p:cNvPicPr>
            <a:picLocks noChangeAspect="1"/>
          </p:cNvPicPr>
          <p:nvPr/>
        </p:nvPicPr>
        <p:blipFill>
          <a:blip r:embed="rId3"/>
          <a:stretch>
            <a:fillRect/>
          </a:stretch>
        </p:blipFill>
        <p:spPr>
          <a:xfrm>
            <a:off x="914400" y="1783080"/>
            <a:ext cx="1188720" cy="1188720"/>
          </a:xfrm>
          <a:prstGeom prst="rect">
            <a:avLst/>
          </a:prstGeom>
        </p:spPr>
      </p:pic>
      <p:sp>
        <p:nvSpPr>
          <p:cNvPr id="7" name="TextBox 6"/>
          <p:cNvSpPr txBox="1"/>
          <p:nvPr/>
        </p:nvSpPr>
        <p:spPr>
          <a:xfrm>
            <a:off x="2295144" y="2029301"/>
            <a:ext cx="3474720" cy="492443"/>
          </a:xfrm>
          <a:prstGeom prst="rect">
            <a:avLst/>
          </a:prstGeom>
          <a:noFill/>
        </p:spPr>
        <p:txBody>
          <a:bodyPr wrap="square" lIns="0" tIns="0" rIns="0" bIns="0">
            <a:spAutoFit/>
          </a:bodyPr>
          <a:lstStyle/>
          <a:p>
            <a:pPr>
              <a:defRPr sz="1600" b="1">
                <a:solidFill>
                  <a:srgbClr val="2C2420"/>
                </a:solidFill>
                <a:latin typeface="Georgia"/>
              </a:defRPr>
            </a:pPr>
            <a:r>
              <a:rPr dirty="0" err="1"/>
              <a:t>MoodMitra</a:t>
            </a:r>
            <a:r>
              <a:rPr dirty="0"/>
              <a:t> (</a:t>
            </a:r>
            <a:r>
              <a:rPr dirty="0" err="1"/>
              <a:t>मुड</a:t>
            </a:r>
            <a:r>
              <a:rPr dirty="0"/>
              <a:t> </a:t>
            </a:r>
            <a:r>
              <a:rPr dirty="0" err="1"/>
              <a:t>मित्र</a:t>
            </a:r>
            <a:r>
              <a:rPr dirty="0"/>
              <a:t>)</a:t>
            </a:r>
          </a:p>
          <a:p>
            <a:pPr>
              <a:defRPr sz="1100" i="1">
                <a:solidFill>
                  <a:srgbClr val="D9663C"/>
                </a:solidFill>
                <a:latin typeface="Georgia"/>
              </a:defRPr>
            </a:pPr>
            <a:r>
              <a:rPr sz="1600" dirty="0"/>
              <a:t>Talk. Support. Protect.</a:t>
            </a:r>
          </a:p>
        </p:txBody>
      </p:sp>
      <p:sp>
        <p:nvSpPr>
          <p:cNvPr id="8" name="TextBox 7"/>
          <p:cNvSpPr txBox="1"/>
          <p:nvPr/>
        </p:nvSpPr>
        <p:spPr>
          <a:xfrm>
            <a:off x="1014984" y="2587752"/>
            <a:ext cx="4754880" cy="3262432"/>
          </a:xfrm>
          <a:prstGeom prst="rect">
            <a:avLst/>
          </a:prstGeom>
          <a:noFill/>
        </p:spPr>
        <p:txBody>
          <a:bodyPr wrap="square" lIns="0" tIns="0" rIns="0" bIns="0">
            <a:spAutoFit/>
          </a:bodyPr>
          <a:lstStyle/>
          <a:p>
            <a:endParaRPr sz="4000" dirty="0"/>
          </a:p>
          <a:p>
            <a:pPr>
              <a:defRPr sz="1150" b="1">
                <a:solidFill>
                  <a:srgbClr val="2C2420"/>
                </a:solidFill>
                <a:latin typeface="Georgia"/>
              </a:defRPr>
            </a:pPr>
            <a:r>
              <a:rPr sz="1400" dirty="0"/>
              <a:t>🌐 Live Production Link</a:t>
            </a:r>
          </a:p>
          <a:p>
            <a:pPr>
              <a:spcAft>
                <a:spcPts val="600"/>
              </a:spcAft>
              <a:defRPr sz="950">
                <a:solidFill>
                  <a:srgbClr val="786A60"/>
                </a:solidFill>
                <a:latin typeface="Arial"/>
              </a:defRPr>
            </a:pPr>
            <a:r>
              <a:rPr sz="1600" dirty="0" err="1"/>
              <a:t>moodmitra.vercel.app</a:t>
            </a:r>
            <a:r>
              <a:rPr sz="1600" dirty="0"/>
              <a:t> (Edge Serverless)</a:t>
            </a:r>
          </a:p>
          <a:p>
            <a:pPr>
              <a:defRPr sz="1150" b="1">
                <a:solidFill>
                  <a:srgbClr val="2C2420"/>
                </a:solidFill>
                <a:latin typeface="Georgia"/>
              </a:defRPr>
            </a:pPr>
            <a:r>
              <a:rPr sz="1400" dirty="0"/>
              <a:t>📂 GitHub Repository</a:t>
            </a:r>
          </a:p>
          <a:p>
            <a:pPr>
              <a:spcAft>
                <a:spcPts val="600"/>
              </a:spcAft>
              <a:defRPr sz="950">
                <a:solidFill>
                  <a:srgbClr val="786A60"/>
                </a:solidFill>
                <a:latin typeface="Arial"/>
              </a:defRPr>
            </a:pPr>
            <a:r>
              <a:rPr sz="1600" dirty="0"/>
              <a:t>github.com/Code-</a:t>
            </a:r>
            <a:r>
              <a:rPr sz="1600" dirty="0" err="1"/>
              <a:t>hk</a:t>
            </a:r>
            <a:r>
              <a:rPr sz="1600" dirty="0"/>
              <a:t>-hack/</a:t>
            </a:r>
            <a:r>
              <a:rPr sz="1600" dirty="0" err="1"/>
              <a:t>moodmitra</a:t>
            </a:r>
            <a:endParaRPr sz="1600" dirty="0"/>
          </a:p>
          <a:p>
            <a:pPr>
              <a:defRPr sz="1150" b="1">
                <a:solidFill>
                  <a:srgbClr val="2C2420"/>
                </a:solidFill>
                <a:latin typeface="Georgia"/>
              </a:defRPr>
            </a:pPr>
            <a:r>
              <a:rPr sz="1400" dirty="0"/>
              <a:t>⚡ Real-Time Latency</a:t>
            </a:r>
          </a:p>
          <a:p>
            <a:pPr>
              <a:spcAft>
                <a:spcPts val="600"/>
              </a:spcAft>
              <a:defRPr sz="950">
                <a:solidFill>
                  <a:srgbClr val="786A60"/>
                </a:solidFill>
                <a:latin typeface="Arial"/>
              </a:defRPr>
            </a:pPr>
            <a:r>
              <a:rPr sz="1600" dirty="0"/>
              <a:t>&lt;2.3s Full Speech &amp; Kinematic Co-Delivery</a:t>
            </a:r>
          </a:p>
          <a:p>
            <a:pPr>
              <a:defRPr sz="1150" b="1">
                <a:solidFill>
                  <a:srgbClr val="2C2420"/>
                </a:solidFill>
                <a:latin typeface="Georgia"/>
              </a:defRPr>
            </a:pPr>
            <a:r>
              <a:rPr sz="1400" dirty="0"/>
              <a:t>🛡️ Safety Certification</a:t>
            </a:r>
          </a:p>
          <a:p>
            <a:pPr>
              <a:spcAft>
                <a:spcPts val="600"/>
              </a:spcAft>
              <a:defRPr sz="950">
                <a:solidFill>
                  <a:srgbClr val="786A60"/>
                </a:solidFill>
                <a:latin typeface="Arial"/>
              </a:defRPr>
            </a:pPr>
            <a:r>
              <a:rPr sz="1600" dirty="0"/>
              <a:t>100% Deterministic Crisis Guardrail + Tele-MANAS 14416</a:t>
            </a:r>
          </a:p>
          <a:p>
            <a:pPr>
              <a:defRPr sz="1400" b="1" i="1">
                <a:solidFill>
                  <a:srgbClr val="D9663C"/>
                </a:solidFill>
                <a:latin typeface="Georgia"/>
              </a:defRPr>
            </a:pPr>
            <a:r>
              <a:rPr dirty="0"/>
              <a:t>“Let's experience Mahiru in action.” 🎤</a:t>
            </a:r>
          </a:p>
        </p:txBody>
      </p:sp>
      <p:sp>
        <p:nvSpPr>
          <p:cNvPr id="9" name="Rounded Rectangle 8"/>
          <p:cNvSpPr/>
          <p:nvPr/>
        </p:nvSpPr>
        <p:spPr>
          <a:xfrm>
            <a:off x="6126480" y="1645920"/>
            <a:ext cx="5303520" cy="4663440"/>
          </a:xfrm>
          <a:prstGeom prst="roundRect">
            <a:avLst/>
          </a:prstGeom>
          <a:solidFill>
            <a:srgbClr val="FFFFFF"/>
          </a:solidFill>
          <a:ln w="19050">
            <a:solidFill>
              <a:srgbClr val="F0DED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6522720" y="1865376"/>
            <a:ext cx="4937760" cy="4555093"/>
          </a:xfrm>
          <a:prstGeom prst="rect">
            <a:avLst/>
          </a:prstGeom>
          <a:noFill/>
        </p:spPr>
        <p:txBody>
          <a:bodyPr wrap="square" lIns="0" tIns="0" rIns="0" bIns="0">
            <a:spAutoFit/>
          </a:bodyPr>
          <a:lstStyle/>
          <a:p>
            <a:pPr>
              <a:spcAft>
                <a:spcPts val="1000"/>
              </a:spcAft>
              <a:defRPr sz="1100" b="1">
                <a:solidFill>
                  <a:srgbClr val="D9663C"/>
                </a:solidFill>
                <a:latin typeface="Georgia"/>
              </a:defRPr>
            </a:pPr>
            <a:r>
              <a:rPr sz="1600" dirty="0"/>
              <a:t>PRODUCT ROADMAP &amp; INSTITUTIONAL VISION</a:t>
            </a:r>
          </a:p>
          <a:p>
            <a:pPr>
              <a:defRPr sz="1150" b="1">
                <a:solidFill>
                  <a:srgbClr val="2C2420"/>
                </a:solidFill>
                <a:latin typeface="Georgia"/>
              </a:defRPr>
            </a:pPr>
            <a:r>
              <a:rPr sz="1600" dirty="0"/>
              <a:t>🚀 Q3 2026: Multi-Regional Expansion</a:t>
            </a:r>
          </a:p>
          <a:p>
            <a:pPr>
              <a:spcAft>
                <a:spcPts val="800"/>
              </a:spcAft>
              <a:defRPr sz="900">
                <a:solidFill>
                  <a:srgbClr val="786A60"/>
                </a:solidFill>
                <a:latin typeface="Arial"/>
              </a:defRPr>
            </a:pPr>
            <a:r>
              <a:rPr sz="1100" dirty="0"/>
              <a:t>Expanding beyond Hinglish into Tamil, Telugu, Marathi, and Bengali to protect rural exam aspirants.</a:t>
            </a:r>
          </a:p>
          <a:p>
            <a:pPr>
              <a:defRPr sz="1150" b="1">
                <a:solidFill>
                  <a:srgbClr val="2C2420"/>
                </a:solidFill>
                <a:latin typeface="Georgia"/>
              </a:defRPr>
            </a:pPr>
            <a:r>
              <a:rPr sz="1600" dirty="0"/>
              <a:t>🚀 Q4 2026: Wearable Biofeedback (Smartwatches)</a:t>
            </a:r>
          </a:p>
          <a:p>
            <a:pPr>
              <a:spcAft>
                <a:spcPts val="800"/>
              </a:spcAft>
              <a:defRPr sz="900">
                <a:solidFill>
                  <a:srgbClr val="786A60"/>
                </a:solidFill>
                <a:latin typeface="Arial"/>
              </a:defRPr>
            </a:pPr>
            <a:r>
              <a:rPr sz="1100" dirty="0"/>
              <a:t>Continuous HR &amp; galvanic skin response integration to preemptively detect panic spikes before mock exams.</a:t>
            </a:r>
          </a:p>
          <a:p>
            <a:pPr>
              <a:defRPr sz="1150" b="1">
                <a:solidFill>
                  <a:srgbClr val="2C2420"/>
                </a:solidFill>
                <a:latin typeface="Georgia"/>
              </a:defRPr>
            </a:pPr>
            <a:r>
              <a:rPr sz="1600" dirty="0"/>
              <a:t>🚀 Q1 2027: B2B Coaching Academy Integration</a:t>
            </a:r>
          </a:p>
          <a:p>
            <a:pPr>
              <a:spcAft>
                <a:spcPts val="800"/>
              </a:spcAft>
              <a:defRPr sz="900">
                <a:solidFill>
                  <a:srgbClr val="786A60"/>
                </a:solidFill>
                <a:latin typeface="Arial"/>
              </a:defRPr>
            </a:pPr>
            <a:r>
              <a:rPr sz="1100" dirty="0"/>
              <a:t>Institutional dashboard providing aggregate, anonymized stress analytics to academic counselors in Kota &amp; Hyderabad.</a:t>
            </a:r>
          </a:p>
          <a:p>
            <a:pPr>
              <a:spcAft>
                <a:spcPts val="200"/>
              </a:spcAft>
              <a:defRPr sz="2200" b="1">
                <a:solidFill>
                  <a:srgbClr val="D9663C"/>
                </a:solidFill>
                <a:latin typeface="Georgia"/>
              </a:defRPr>
            </a:pPr>
            <a:r>
              <a:rPr sz="3200" dirty="0"/>
              <a:t>THANK YOU!</a:t>
            </a:r>
          </a:p>
          <a:p>
            <a:pPr>
              <a:defRPr sz="1050" b="1">
                <a:solidFill>
                  <a:srgbClr val="2C2420"/>
                </a:solidFill>
                <a:latin typeface="Arial"/>
              </a:defRPr>
            </a:pPr>
            <a:r>
              <a:rPr sz="1400" dirty="0"/>
              <a:t>Team Solo Hacker  |  Open for Questions &amp; Live Demonstration</a:t>
            </a:r>
            <a:endParaRPr lang="en-US" sz="1400" dirty="0"/>
          </a:p>
          <a:p>
            <a:pPr>
              <a:defRPr sz="1050" b="1">
                <a:solidFill>
                  <a:srgbClr val="2C2420"/>
                </a:solidFill>
                <a:latin typeface="Arial"/>
              </a:defRPr>
            </a:pPr>
            <a:endParaRPr lang="en-IN" sz="1400" dirty="0"/>
          </a:p>
          <a:p>
            <a:pPr>
              <a:defRPr sz="1050" b="1">
                <a:solidFill>
                  <a:srgbClr val="2C2420"/>
                </a:solidFill>
                <a:latin typeface="Arial"/>
              </a:defRPr>
            </a:pPr>
            <a:endParaRPr lang="en-IN" sz="14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29</TotalTime>
  <Words>2087</Words>
  <Application>Microsoft Office PowerPoint</Application>
  <PresentationFormat>Widescreen</PresentationFormat>
  <Paragraphs>153</Paragraphs>
  <Slides>6</Slides>
  <Notes>6</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6</vt:i4>
      </vt:variant>
    </vt:vector>
  </HeadingPairs>
  <TitlesOfParts>
    <vt:vector size="9" baseType="lpstr">
      <vt:lpstr>Arial</vt:lpstr>
      <vt:lpstr>Calibri</vt:lpstr>
      <vt:lpstr>Office Theme</vt:lpstr>
      <vt:lpstr>PowerPoint Presentation</vt:lpstr>
      <vt:lpstr>PowerPoint Presentation</vt:lpstr>
      <vt:lpstr>PowerPoint Presentation</vt:lpstr>
      <vt:lpstr>PowerPoint Presentation</vt:lpstr>
      <vt:lpstr>PowerPoint Presentation</vt:lpstr>
      <vt:lpstr>PowerPoint Presentation</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Kartikay Sharma</cp:lastModifiedBy>
  <cp:revision>2</cp:revision>
  <dcterms:created xsi:type="dcterms:W3CDTF">2013-01-27T09:14:16Z</dcterms:created>
  <dcterms:modified xsi:type="dcterms:W3CDTF">2026-09-13T10:26:45Z</dcterms:modified>
  <cp:category/>
</cp:coreProperties>
</file>