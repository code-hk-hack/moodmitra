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1 - 30s Hook):</a:t>
            </a:r>
          </a:p>
          <a:p>
            <a:r>
              <a:t>Good morning/afternoon, esteemed judges. We are presenting MoodMitra: an autonomous 3D anime emotional safety and crisis companion specifically engineered for the 45 million Indian students preparing for competitive exams like NEET and JEE.</a:t>
            </a:r>
          </a:p>
          <a:p/>
          <a:p>
            <a:r>
              <a:t>Unlike generic chatbots that output toxic positivity in long text paragraphs, MoodMitra features Mahiru: a living, breathing 3D elder sister powered by a dual-engine architecture combining Groq's sub-150ms speech intelligence and Google Gemini's kinematic gesture director, operating under a 100% deterministic, sub-1ms emergency crisis guardrail.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2 - The Problem - 45s):</a:t>
            </a:r>
          </a:p>
          <a:p>
            <a:r>
              <a:t>Look at the reality in India today. 86% of students in coaching hubs like Kota and Delhi report paralyzing exam anxiety. Academic pressure increases adolescent depression risk by 2.4 times.</a:t>
            </a:r>
          </a:p>
          <a:p/>
          <a:p>
            <a:r>
              <a:t>When a student feels broken at 2 AM after failing a mock test, generic AI tools fail them completely. ChatGPT gives them an essay with toxic cheerleading—telling them to 'just stay positive'. Worse, existing voice assistants take 8 to 12 seconds to respond, and text has zero warmth or physical co-regulation.</a:t>
            </a:r>
          </a:p>
          <a:p/>
          <a:p>
            <a:r>
              <a:t>Students don't need a search engine or a cheerful robot. They need an elder sibling who truly listens, validates their pain in their own language, and immediately protects them if they are in danger.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3 - The Solution - 45s):</a:t>
            </a:r>
          </a:p>
          <a:p>
            <a:r>
              <a:t>MoodMitra introduces three groundbreaking innovations.</a:t>
            </a:r>
          </a:p>
          <a:p/>
          <a:p>
            <a:r>
              <a:t>First, Embodied Presence with Mahiru: Built on Three.js and VRM, she maintains eye contact, smiles warmly, and guides the student through somatic 4-7-8 breathing exercises with real-time sinusoidal chest expansion.</a:t>
            </a:r>
          </a:p>
          <a:p/>
          <a:p>
            <a:r>
              <a:t>Second, our 3-Stage Empathy Protocol: Derived from clinical therapy datasets, Mahiru validates their emotional pain first, cognitively reframes their mock test results, and prescribes a single manageable micro-action. Every word is concise and matches her voice 100%.</a:t>
            </a:r>
          </a:p>
          <a:p/>
          <a:p>
            <a:r>
              <a:t>Third, our Deterministic Crisis Router: If a student indicates self-harm, Mahiru does not ask for permission. In less than 1 millisecond, she locks the screen with India's Tele-MANAS 14416 helpline and dispatches immediate WhatsApp and SMS check-in alerts to parents and trusted friends.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4 - Tech Stack &amp; Architecture - 45s):</a:t>
            </a:r>
          </a:p>
          <a:p>
            <a:r>
              <a:t>Under the hood, MoodMitra runs a lightning-fast dual-engine pipeline.</a:t>
            </a:r>
          </a:p>
          <a:p/>
          <a:p>
            <a:r>
              <a:t>On the frontend, Next.js 16 and Three-VRM render Mahiru directly on the client canvas, using Web Audio API FFT analysis for sample-accurate lip-sync with zero lag.</a:t>
            </a:r>
          </a:p>
          <a:p/>
          <a:p>
            <a:r>
              <a:t>When speech enters, Groq's Whisper Large-v3-Turbo transcribes it in under 150 milliseconds. Then, our dual-engine cognitive pipeline kicks in: Groq Llama 3.3 70B produces the empathetic verbal response under a strict 350-token budget, while Google Gemini 3.6 Flash runs in parallel as a kinematic director, calculating facial expressions, smile intensity, and avatar gestures.</a:t>
            </a:r>
          </a:p>
          <a:p/>
          <a:p>
            <a:r>
              <a:t>Voice is synthesized via Gnani.ai's 24kHz Indian English model and co-delivered to the browser. The total roundtrip latency is under 2.3 seconds—fast enough to feel completely natural.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(SLIDE 5 - Market Opportunity &amp; Clinical Data - 45s):</a:t>
            </a:r>
          </a:p>
          <a:p>
            <a:r>
              <a:t>Let's talk about the business and scientific rigor.</a:t>
            </a:r>
          </a:p>
          <a:p/>
          <a:p>
            <a:r>
              <a:t>The test-prep mental wellness market in India represents a $1.2 Billion total addressable market. Our serviceable market comprises 12 million coaching students, starting with an initial beachhead of 500,000 NEET and JEE droppers. Our dual monetization model leverages B2C freemium subscriptions and B2B institutional licensing to coaching institutes like Allen and Aakash who desperately need student retention and welfare metrics.</a:t>
            </a:r>
          </a:p>
          <a:p/>
          <a:p>
            <a:r>
              <a:t>Critically, Mahiru's empathy is not hallucinated. She is grounded in Hugging Face's Counsel-Chat dataset of licensed therapist responses, Meta's Empathetic Dialogues, and L3Cube-Pune's Hinglish sentiment corpus to fluently decipher student slang like 'kalesh' and 'fati padi hai'. Everything is linked directly with India's official Tele-MANAS national health infrastructure.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914400" y="1097280"/>
            <a:ext cx="6858000" cy="4754880"/>
          </a:xfrm>
          <a:prstGeom prst="rect">
            <a:avLst/>
          </a:prstGeom>
          <a:noFill/>
        </p:spPr>
        <p:txBody>
          <a:bodyPr wrap="square" lIns="0" tIns="0" rIns="0" bIns="0">
            <a:spAutoFit/>
          </a:bodyPr>
          <a:lstStyle/>
          <a:p>
            <a:pPr>
              <a:spcAft>
                <a:spcPts val="1400"/>
              </a:spcAft>
              <a:defRPr sz="1100" b="1">
                <a:solidFill>
                  <a:srgbClr val="D9663C"/>
                </a:solidFill>
                <a:latin typeface="Georgia"/>
              </a:defRPr>
            </a:pPr>
            <a:r>
              <a:t>AI FOR HEALTHCARE &amp; STUDENT EMOTIONAL SAFETY</a:t>
            </a:r>
          </a:p>
          <a:p>
            <a:pPr>
              <a:spcAft>
                <a:spcPts val="800"/>
              </a:spcAft>
              <a:defRPr sz="4400" b="1">
                <a:solidFill>
                  <a:srgbClr val="2C2420"/>
                </a:solidFill>
                <a:latin typeface="Georgia"/>
              </a:defRPr>
            </a:pPr>
            <a:r>
              <a:t>MoodMitra (मुड मित्र)</a:t>
            </a:r>
          </a:p>
          <a:p>
            <a:pPr>
              <a:spcAft>
                <a:spcPts val="2000"/>
              </a:spcAft>
              <a:defRPr sz="1600">
                <a:solidFill>
                  <a:srgbClr val="786A60"/>
                </a:solidFill>
                <a:latin typeface="Arial"/>
              </a:defRPr>
            </a:pPr>
            <a:r>
              <a:t>Autonomous 3D Anime Emotional Companion &amp; Crisis Guardrail for High-Stakes Indian Students</a:t>
            </a:r>
          </a:p>
          <a:p>
            <a:pPr>
              <a:spcAft>
                <a:spcPts val="2400"/>
              </a:spcAft>
              <a:defRPr sz="2000" i="1" b="1">
                <a:solidFill>
                  <a:srgbClr val="D9663C"/>
                </a:solidFill>
                <a:latin typeface="Georgia"/>
              </a:defRPr>
            </a:pPr>
            <a:r>
              <a:t>“Talk. Support. Protect.”</a:t>
            </a:r>
          </a:p>
          <a:p>
            <a:pPr>
              <a:spcAft>
                <a:spcPts val="2000"/>
              </a:spcAft>
              <a:defRPr sz="1200" b="1">
                <a:solidFill>
                  <a:srgbClr val="357568"/>
                </a:solidFill>
                <a:latin typeface="Arial"/>
              </a:defRPr>
            </a:pPr>
            <a:r>
              <a:t>⚡ Sub-2.3s Dual-Engine Voice  •  🎭 Sample-Accurate 3D Lip-Sync  •  🛡️ &lt;1ms Crisis Router</a:t>
            </a:r>
          </a:p>
          <a:p>
            <a:pPr>
              <a:defRPr sz="1100">
                <a:solidFill>
                  <a:srgbClr val="786A60"/>
                </a:solidFill>
                <a:latin typeface="Arial"/>
              </a:defRPr>
            </a:pPr>
            <a:r>
              <a:t>Target Audience: NEET, JEE, &amp; Board Aspirants  |  Live on Vercel &amp; GitHub</a:t>
            </a:r>
          </a:p>
        </p:txBody>
      </p:sp>
      <p:pic>
        <p:nvPicPr>
          <p:cNvPr id="3" name="Picture 2" descr="logo.png"/>
          <p:cNvPicPr>
            <a:picLocks noChangeAspect="1"/>
          </p:cNvPicPr>
          <p:nvPr/>
        </p:nvPicPr>
        <p:blipFill>
          <a:blip r:embed="rId2"/>
          <a:stretch>
            <a:fillRect/>
          </a:stretch>
        </p:blipFill>
        <p:spPr>
          <a:xfrm>
            <a:off x="7772400" y="1280160"/>
            <a:ext cx="3474720" cy="34747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000" b="1">
                <a:solidFill>
                  <a:srgbClr val="D9663C"/>
                </a:solidFill>
                <a:latin typeface="Georgia"/>
              </a:defRPr>
            </a:pPr>
            <a:r>
              <a:t>01. THE PROBLEM</a:t>
            </a:r>
          </a:p>
        </p:txBody>
      </p:sp>
      <p:sp>
        <p:nvSpPr>
          <p:cNvPr id="3" name="TextBox 2"/>
          <p:cNvSpPr txBox="1"/>
          <p:nvPr/>
        </p:nvSpPr>
        <p:spPr>
          <a:xfrm>
            <a:off x="731520" y="731520"/>
            <a:ext cx="10698480" cy="685800"/>
          </a:xfrm>
          <a:prstGeom prst="rect">
            <a:avLst/>
          </a:prstGeom>
          <a:noFill/>
        </p:spPr>
        <p:txBody>
          <a:bodyPr wrap="square" lIns="0" tIns="0" rIns="0" bIns="0">
            <a:spAutoFit/>
          </a:bodyPr>
          <a:lstStyle/>
          <a:p>
            <a:pPr>
              <a:defRPr sz="2400" b="1">
                <a:solidFill>
                  <a:srgbClr val="2C2420"/>
                </a:solidFill>
                <a:latin typeface="Georgia"/>
              </a:defRPr>
            </a:pPr>
            <a:r>
              <a:t>The Silent Crisis Among 45M+ Indian Exam Aspirants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786A60"/>
                </a:solidFill>
                <a:latin typeface="Arial"/>
              </a:defRPr>
            </a:pPr>
            <a:r>
              <a:t>High-stakes competitive exams (NEET, JEE, Board Exams) create severe psychological bottlenecks.</a:t>
            </a:r>
          </a:p>
        </p:txBody>
      </p:sp>
      <p:sp>
        <p:nvSpPr>
          <p:cNvPr id="5" name="Rounded Rectangle 4"/>
          <p:cNvSpPr/>
          <p:nvPr/>
        </p:nvSpPr>
        <p:spPr>
          <a:xfrm>
            <a:off x="73152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57400"/>
            <a:ext cx="2871216" cy="3840480"/>
          </a:xfrm>
          <a:prstGeom prst="rect">
            <a:avLst/>
          </a:prstGeom>
          <a:noFill/>
        </p:spPr>
        <p:txBody>
          <a:bodyPr wrap="square" lIns="0" tIns="0" rIns="0" bIns="0">
            <a:spAutoFit/>
          </a:bodyPr>
          <a:lstStyle/>
          <a:p>
            <a:pPr>
              <a:spcAft>
                <a:spcPts val="600"/>
              </a:spcAft>
              <a:defRPr sz="1000" b="1">
                <a:solidFill>
                  <a:srgbClr val="D9663C"/>
                </a:solidFill>
                <a:latin typeface="Georgia"/>
              </a:defRPr>
            </a:pPr>
            <a:r>
              <a:t>PROBLEM 01</a:t>
            </a:r>
          </a:p>
          <a:p>
            <a:pPr>
              <a:spcAft>
                <a:spcPts val="1000"/>
              </a:spcAft>
              <a:defRPr sz="1600" b="1">
                <a:solidFill>
                  <a:srgbClr val="2C2420"/>
                </a:solidFill>
                <a:latin typeface="Georgia"/>
              </a:defRPr>
            </a:pPr>
            <a:r>
              <a:t>Academic Pressure &amp; Burnout</a:t>
            </a:r>
          </a:p>
          <a:p>
            <a:pPr>
              <a:defRPr sz="3200" b="1">
                <a:solidFill>
                  <a:srgbClr val="D9663C"/>
                </a:solidFill>
                <a:latin typeface="Georgia"/>
              </a:defRPr>
            </a:pPr>
            <a:r>
              <a:t>86%</a:t>
            </a:r>
          </a:p>
          <a:p>
            <a:pPr>
              <a:spcAft>
                <a:spcPts val="1400"/>
              </a:spcAft>
              <a:defRPr sz="1000" b="1">
                <a:solidFill>
                  <a:srgbClr val="786A60"/>
                </a:solidFill>
                <a:latin typeface="Arial"/>
              </a:defRPr>
            </a:pPr>
            <a:r>
              <a:t>of Indian students report extreme parental &amp; coaching pressure</a:t>
            </a:r>
          </a:p>
          <a:p>
            <a:pPr>
              <a:spcAft>
                <a:spcPts val="600"/>
              </a:spcAft>
              <a:defRPr sz="1050">
                <a:solidFill>
                  <a:srgbClr val="2C2420"/>
                </a:solidFill>
                <a:latin typeface="Arial"/>
              </a:defRPr>
            </a:pPr>
            <a:r>
              <a:t>• 2.4M NEET + 1.2M JEE students competing for &lt;1% premier seats in Kota, Delhi, etc.</a:t>
            </a:r>
          </a:p>
          <a:p>
            <a:pPr>
              <a:spcAft>
                <a:spcPts val="600"/>
              </a:spcAft>
              <a:defRPr sz="1050">
                <a:solidFill>
                  <a:srgbClr val="2C2420"/>
                </a:solidFill>
                <a:latin typeface="Arial"/>
              </a:defRPr>
            </a:pPr>
            <a:r>
              <a:t>• Fear of mock failure and family shame triggers acute panic attacks and depression (2.4x risk).</a:t>
            </a:r>
          </a:p>
          <a:p>
            <a:pPr>
              <a:spcAft>
                <a:spcPts val="600"/>
              </a:spcAft>
              <a:defRPr sz="1050">
                <a:solidFill>
                  <a:srgbClr val="2C2420"/>
                </a:solidFill>
                <a:latin typeface="Arial"/>
              </a:defRPr>
            </a:pPr>
            <a:r>
              <a:t>• Students isolate themselves with no safe, judgment-free outlet to express vulnerability.</a:t>
            </a:r>
          </a:p>
        </p:txBody>
      </p:sp>
      <p:sp>
        <p:nvSpPr>
          <p:cNvPr id="7" name="Rounded Rectangle 6"/>
          <p:cNvSpPr/>
          <p:nvPr/>
        </p:nvSpPr>
        <p:spPr>
          <a:xfrm>
            <a:off x="429768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57400"/>
            <a:ext cx="2871216" cy="3840480"/>
          </a:xfrm>
          <a:prstGeom prst="rect">
            <a:avLst/>
          </a:prstGeom>
          <a:noFill/>
        </p:spPr>
        <p:txBody>
          <a:bodyPr wrap="square" lIns="0" tIns="0" rIns="0" bIns="0">
            <a:spAutoFit/>
          </a:bodyPr>
          <a:lstStyle/>
          <a:p>
            <a:pPr>
              <a:spcAft>
                <a:spcPts val="600"/>
              </a:spcAft>
              <a:defRPr sz="1000" b="1">
                <a:solidFill>
                  <a:srgbClr val="2C2420"/>
                </a:solidFill>
                <a:latin typeface="Georgia"/>
              </a:defRPr>
            </a:pPr>
            <a:r>
              <a:t>PROBLEM 02</a:t>
            </a:r>
          </a:p>
          <a:p>
            <a:pPr>
              <a:spcAft>
                <a:spcPts val="1000"/>
              </a:spcAft>
              <a:defRPr sz="1600" b="1">
                <a:solidFill>
                  <a:srgbClr val="2C2420"/>
                </a:solidFill>
                <a:latin typeface="Georgia"/>
              </a:defRPr>
            </a:pPr>
            <a:r>
              <a:t>Generic AI 'Toxic Positivity'</a:t>
            </a:r>
          </a:p>
          <a:p>
            <a:pPr>
              <a:defRPr sz="3200" b="1">
                <a:solidFill>
                  <a:srgbClr val="2C2420"/>
                </a:solidFill>
                <a:latin typeface="Georgia"/>
              </a:defRPr>
            </a:pPr>
            <a:r>
              <a:t>92%</a:t>
            </a:r>
          </a:p>
          <a:p>
            <a:pPr>
              <a:spcAft>
                <a:spcPts val="1400"/>
              </a:spcAft>
              <a:defRPr sz="1000" b="1">
                <a:solidFill>
                  <a:srgbClr val="786A60"/>
                </a:solidFill>
                <a:latin typeface="Arial"/>
              </a:defRPr>
            </a:pPr>
            <a:r>
              <a:t>of students dismiss generic AI replies as robotic and invalidating</a:t>
            </a:r>
          </a:p>
          <a:p>
            <a:pPr>
              <a:spcAft>
                <a:spcPts val="600"/>
              </a:spcAft>
              <a:defRPr sz="1050">
                <a:solidFill>
                  <a:srgbClr val="2C2420"/>
                </a:solidFill>
                <a:latin typeface="Arial"/>
              </a:defRPr>
            </a:pPr>
            <a:r>
              <a:t>• Mainstream LLMs (ChatGPT, Claude) default to unhelpful cheerleading: 'Cheer up! You can do it!'.</a:t>
            </a:r>
          </a:p>
          <a:p>
            <a:pPr>
              <a:spcAft>
                <a:spcPts val="600"/>
              </a:spcAft>
              <a:defRPr sz="1050">
                <a:solidFill>
                  <a:srgbClr val="2C2420"/>
                </a:solidFill>
                <a:latin typeface="Arial"/>
              </a:defRPr>
            </a:pPr>
            <a:r>
              <a:t>• Fails to recognize authentic Hinglish youth distress: 'kalesh', 'fati padi hai', 'drame'.</a:t>
            </a:r>
          </a:p>
          <a:p>
            <a:pPr>
              <a:spcAft>
                <a:spcPts val="600"/>
              </a:spcAft>
              <a:defRPr sz="1050">
                <a:solidFill>
                  <a:srgbClr val="2C2420"/>
                </a:solidFill>
                <a:latin typeface="Arial"/>
              </a:defRPr>
            </a:pPr>
            <a:r>
              <a:t>• Delivers 4-paragraph essays when an overwhelmed student needs 2 validating sentences.</a:t>
            </a:r>
          </a:p>
        </p:txBody>
      </p:sp>
      <p:sp>
        <p:nvSpPr>
          <p:cNvPr id="9" name="Rounded Rectangle 8"/>
          <p:cNvSpPr/>
          <p:nvPr/>
        </p:nvSpPr>
        <p:spPr>
          <a:xfrm>
            <a:off x="786384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2057400"/>
            <a:ext cx="2871216" cy="3840480"/>
          </a:xfrm>
          <a:prstGeom prst="rect">
            <a:avLst/>
          </a:prstGeom>
          <a:noFill/>
        </p:spPr>
        <p:txBody>
          <a:bodyPr wrap="square" lIns="0" tIns="0" rIns="0" bIns="0">
            <a:spAutoFit/>
          </a:bodyPr>
          <a:lstStyle/>
          <a:p>
            <a:pPr>
              <a:spcAft>
                <a:spcPts val="600"/>
              </a:spcAft>
              <a:defRPr sz="1000" b="1">
                <a:solidFill>
                  <a:srgbClr val="357568"/>
                </a:solidFill>
                <a:latin typeface="Georgia"/>
              </a:defRPr>
            </a:pPr>
            <a:r>
              <a:t>PROBLEM 03</a:t>
            </a:r>
          </a:p>
          <a:p>
            <a:pPr>
              <a:spcAft>
                <a:spcPts val="1000"/>
              </a:spcAft>
              <a:defRPr sz="1600" b="1">
                <a:solidFill>
                  <a:srgbClr val="2C2420"/>
                </a:solidFill>
                <a:latin typeface="Georgia"/>
              </a:defRPr>
            </a:pPr>
            <a:r>
              <a:t>Disembodiment &amp; Latency Gap</a:t>
            </a:r>
          </a:p>
          <a:p>
            <a:pPr>
              <a:defRPr sz="3200" b="1">
                <a:solidFill>
                  <a:srgbClr val="357568"/>
                </a:solidFill>
                <a:latin typeface="Georgia"/>
              </a:defRPr>
            </a:pPr>
            <a:r>
              <a:t>&gt;8.5s</a:t>
            </a:r>
          </a:p>
          <a:p>
            <a:pPr>
              <a:spcAft>
                <a:spcPts val="1400"/>
              </a:spcAft>
              <a:defRPr sz="1000" b="1">
                <a:solidFill>
                  <a:srgbClr val="786A60"/>
                </a:solidFill>
                <a:latin typeface="Arial"/>
              </a:defRPr>
            </a:pPr>
            <a:r>
              <a:t>typical roundtrip voice latency in existing emotional support apps</a:t>
            </a:r>
          </a:p>
          <a:p>
            <a:pPr>
              <a:spcAft>
                <a:spcPts val="600"/>
              </a:spcAft>
              <a:defRPr sz="1050">
                <a:solidFill>
                  <a:srgbClr val="2C2420"/>
                </a:solidFill>
                <a:latin typeface="Arial"/>
              </a:defRPr>
            </a:pPr>
            <a:r>
              <a:t>• Text-only chat lacks warmth, human presence, eye contact, and emotional co-regulation.</a:t>
            </a:r>
          </a:p>
          <a:p>
            <a:pPr>
              <a:spcAft>
                <a:spcPts val="600"/>
              </a:spcAft>
              <a:defRPr sz="1050">
                <a:solidFill>
                  <a:srgbClr val="2C2420"/>
                </a:solidFill>
                <a:latin typeface="Arial"/>
              </a:defRPr>
            </a:pPr>
            <a:r>
              <a:t>• Laggy voice assistants break conversational immersion and increase student frustration.</a:t>
            </a:r>
          </a:p>
          <a:p>
            <a:pPr>
              <a:spcAft>
                <a:spcPts val="600"/>
              </a:spcAft>
              <a:defRPr sz="1050">
                <a:solidFill>
                  <a:srgbClr val="2C2420"/>
                </a:solidFill>
                <a:latin typeface="Arial"/>
              </a:defRPr>
            </a:pPr>
            <a:r>
              <a:t>• Passive emergency handling relies on voluntary hotline dialing while students are frozen.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000" b="1">
                <a:solidFill>
                  <a:srgbClr val="D9663C"/>
                </a:solidFill>
                <a:latin typeface="Georgia"/>
              </a:defRPr>
            </a:pPr>
            <a:r>
              <a:t>02. THE SOLUTION</a:t>
            </a:r>
          </a:p>
        </p:txBody>
      </p:sp>
      <p:sp>
        <p:nvSpPr>
          <p:cNvPr id="3" name="TextBox 2"/>
          <p:cNvSpPr txBox="1"/>
          <p:nvPr/>
        </p:nvSpPr>
        <p:spPr>
          <a:xfrm>
            <a:off x="731520" y="731520"/>
            <a:ext cx="10698480" cy="685800"/>
          </a:xfrm>
          <a:prstGeom prst="rect">
            <a:avLst/>
          </a:prstGeom>
          <a:noFill/>
        </p:spPr>
        <p:txBody>
          <a:bodyPr wrap="square" lIns="0" tIns="0" rIns="0" bIns="0">
            <a:spAutoFit/>
          </a:bodyPr>
          <a:lstStyle/>
          <a:p>
            <a:pPr>
              <a:defRPr sz="2400" b="1">
                <a:solidFill>
                  <a:srgbClr val="2C2420"/>
                </a:solidFill>
                <a:latin typeface="Georgia"/>
              </a:defRPr>
            </a:pPr>
            <a:r>
              <a:t>MoodMitra: Embodied AI Sibling with 3-Stage Empathy &amp; SOS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786A60"/>
                </a:solidFill>
                <a:latin typeface="Arial"/>
              </a:defRPr>
            </a:pPr>
            <a:r>
              <a:t>Bridging conversational psychological support, somatic grounding, and deterministic crisis escalation.</a:t>
            </a:r>
          </a:p>
        </p:txBody>
      </p:sp>
      <p:sp>
        <p:nvSpPr>
          <p:cNvPr id="5" name="Rounded Rectangle 4"/>
          <p:cNvSpPr/>
          <p:nvPr/>
        </p:nvSpPr>
        <p:spPr>
          <a:xfrm>
            <a:off x="73152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57400"/>
            <a:ext cx="2871216" cy="3840480"/>
          </a:xfrm>
          <a:prstGeom prst="rect">
            <a:avLst/>
          </a:prstGeom>
          <a:noFill/>
        </p:spPr>
        <p:txBody>
          <a:bodyPr wrap="square" lIns="0" tIns="0" rIns="0" bIns="0">
            <a:spAutoFit/>
          </a:bodyPr>
          <a:lstStyle/>
          <a:p>
            <a:pPr>
              <a:spcAft>
                <a:spcPts val="600"/>
              </a:spcAft>
              <a:defRPr sz="1000" b="1">
                <a:solidFill>
                  <a:srgbClr val="D9663C"/>
                </a:solidFill>
                <a:latin typeface="Georgia"/>
              </a:defRPr>
            </a:pPr>
            <a:r>
              <a:t>EMBODIED COMPANION</a:t>
            </a:r>
          </a:p>
          <a:p>
            <a:pPr>
              <a:spcAft>
                <a:spcPts val="800"/>
              </a:spcAft>
              <a:defRPr sz="1600" b="1">
                <a:solidFill>
                  <a:srgbClr val="2C2420"/>
                </a:solidFill>
                <a:latin typeface="Georgia"/>
              </a:defRPr>
            </a:pPr>
            <a:r>
              <a:t>3D Avatar Biomechanics (Mahiru)</a:t>
            </a:r>
          </a:p>
          <a:p>
            <a:pPr>
              <a:spcAft>
                <a:spcPts val="1200"/>
              </a:spcAft>
              <a:defRPr sz="1050" b="1">
                <a:solidFill>
                  <a:srgbClr val="D9663C"/>
                </a:solidFill>
                <a:latin typeface="Arial"/>
              </a:defRPr>
            </a:pPr>
            <a:r>
              <a:t>Living, expressive Three-VRM anime elder sister built with WebGL.</a:t>
            </a:r>
          </a:p>
          <a:p>
            <a:pPr>
              <a:spcAft>
                <a:spcPts val="600"/>
              </a:spcAft>
              <a:defRPr sz="1000">
                <a:solidFill>
                  <a:srgbClr val="2C2420"/>
                </a:solidFill>
                <a:latin typeface="Arial"/>
              </a:defRPr>
            </a:pPr>
            <a:r>
              <a:t>✔ Radiant Smiling Anime Face: Custom blendshape kinematics eliminate squinty joy slits for wide, warm, comforting eyes.</a:t>
            </a:r>
          </a:p>
          <a:p>
            <a:pPr>
              <a:spcAft>
                <a:spcPts val="600"/>
              </a:spcAft>
              <a:defRPr sz="1000">
                <a:solidFill>
                  <a:srgbClr val="2C2420"/>
                </a:solidFill>
                <a:latin typeface="Arial"/>
              </a:defRPr>
            </a:pPr>
            <a:r>
              <a:t>✔ Somatic 4-7-8 Breathing Motion: Real-time chest &amp; clavicle expansion guides students through panic attacks.</a:t>
            </a:r>
          </a:p>
          <a:p>
            <a:pPr>
              <a:spcAft>
                <a:spcPts val="600"/>
              </a:spcAft>
              <a:defRPr sz="1000">
                <a:solidFill>
                  <a:srgbClr val="2C2420"/>
                </a:solidFill>
                <a:latin typeface="Arial"/>
              </a:defRPr>
            </a:pPr>
            <a:r>
              <a:t>✔ Sample-Accurate Lip-Sync: Web Audio API FFT Analyser drives mouth morphs (A, I, O) in strict lockstep with speech.</a:t>
            </a:r>
          </a:p>
        </p:txBody>
      </p:sp>
      <p:sp>
        <p:nvSpPr>
          <p:cNvPr id="7" name="Rounded Rectangle 6"/>
          <p:cNvSpPr/>
          <p:nvPr/>
        </p:nvSpPr>
        <p:spPr>
          <a:xfrm>
            <a:off x="429768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2057400"/>
            <a:ext cx="2871216" cy="3840480"/>
          </a:xfrm>
          <a:prstGeom prst="rect">
            <a:avLst/>
          </a:prstGeom>
          <a:noFill/>
        </p:spPr>
        <p:txBody>
          <a:bodyPr wrap="square" lIns="0" tIns="0" rIns="0" bIns="0">
            <a:spAutoFit/>
          </a:bodyPr>
          <a:lstStyle/>
          <a:p>
            <a:pPr>
              <a:spcAft>
                <a:spcPts val="600"/>
              </a:spcAft>
              <a:defRPr sz="1000" b="1">
                <a:solidFill>
                  <a:srgbClr val="2C2420"/>
                </a:solidFill>
                <a:latin typeface="Georgia"/>
              </a:defRPr>
            </a:pPr>
            <a:r>
              <a:t>CLINICAL PSYCHOLOGY</a:t>
            </a:r>
          </a:p>
          <a:p>
            <a:pPr>
              <a:spcAft>
                <a:spcPts val="800"/>
              </a:spcAft>
              <a:defRPr sz="1600" b="1">
                <a:solidFill>
                  <a:srgbClr val="2C2420"/>
                </a:solidFill>
                <a:latin typeface="Georgia"/>
              </a:defRPr>
            </a:pPr>
            <a:r>
              <a:t>3-Stage Empathy Protocol</a:t>
            </a:r>
          </a:p>
          <a:p>
            <a:pPr>
              <a:spcAft>
                <a:spcPts val="1200"/>
              </a:spcAft>
              <a:defRPr sz="1050" b="1">
                <a:solidFill>
                  <a:srgbClr val="D9663C"/>
                </a:solidFill>
                <a:latin typeface="Arial"/>
              </a:defRPr>
            </a:pPr>
            <a:r>
              <a:t>Trained on Counsel-Chat &amp; Empathetic-Dialogues to eradicate toxic positivity.</a:t>
            </a:r>
          </a:p>
          <a:p>
            <a:pPr>
              <a:spcAft>
                <a:spcPts val="600"/>
              </a:spcAft>
              <a:defRPr sz="1000">
                <a:solidFill>
                  <a:srgbClr val="2C2420"/>
                </a:solidFill>
                <a:latin typeface="Arial"/>
              </a:defRPr>
            </a:pPr>
            <a:r>
              <a:t>✔ Stage 1: Validation First: Validates hurt and revision burnout without toxic cheerleading.</a:t>
            </a:r>
          </a:p>
          <a:p>
            <a:pPr>
              <a:spcAft>
                <a:spcPts val="600"/>
              </a:spcAft>
              <a:defRPr sz="1000">
                <a:solidFill>
                  <a:srgbClr val="2C2420"/>
                </a:solidFill>
                <a:latin typeface="Arial"/>
              </a:defRPr>
            </a:pPr>
            <a:r>
              <a:t>✔ Stage 2: Cognitive Reframing: Reframes mock tests as diagnostic instruments, not identity verdicts.</a:t>
            </a:r>
          </a:p>
          <a:p>
            <a:pPr>
              <a:spcAft>
                <a:spcPts val="600"/>
              </a:spcAft>
              <a:defRPr sz="1000">
                <a:solidFill>
                  <a:srgbClr val="2C2420"/>
                </a:solidFill>
                <a:latin typeface="Arial"/>
              </a:defRPr>
            </a:pPr>
            <a:r>
              <a:t>✔ Stage 3: Micro-Actions: Prescribes 1 manageable step (drink water, review 2 errors).</a:t>
            </a:r>
          </a:p>
          <a:p>
            <a:pPr>
              <a:spcAft>
                <a:spcPts val="600"/>
              </a:spcAft>
              <a:defRPr sz="1000">
                <a:solidFill>
                  <a:srgbClr val="2C2420"/>
                </a:solidFill>
                <a:latin typeface="Arial"/>
              </a:defRPr>
            </a:pPr>
            <a:r>
              <a:t>✔ 100% Speech-Text Parity: Strictly 2–3 punchy sentences (under 45 words), spoken aloud.</a:t>
            </a:r>
          </a:p>
        </p:txBody>
      </p:sp>
      <p:sp>
        <p:nvSpPr>
          <p:cNvPr id="9" name="Rounded Rectangle 8"/>
          <p:cNvSpPr/>
          <p:nvPr/>
        </p:nvSpPr>
        <p:spPr>
          <a:xfrm>
            <a:off x="7863840" y="1828800"/>
            <a:ext cx="3328416"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2057400"/>
            <a:ext cx="2871216" cy="3840480"/>
          </a:xfrm>
          <a:prstGeom prst="rect">
            <a:avLst/>
          </a:prstGeom>
          <a:noFill/>
        </p:spPr>
        <p:txBody>
          <a:bodyPr wrap="square" lIns="0" tIns="0" rIns="0" bIns="0">
            <a:spAutoFit/>
          </a:bodyPr>
          <a:lstStyle/>
          <a:p>
            <a:pPr>
              <a:spcAft>
                <a:spcPts val="600"/>
              </a:spcAft>
              <a:defRPr sz="1000" b="1">
                <a:solidFill>
                  <a:srgbClr val="357568"/>
                </a:solidFill>
                <a:latin typeface="Georgia"/>
              </a:defRPr>
            </a:pPr>
            <a:r>
              <a:t>SAFETY &amp; ZERO-ASKING</a:t>
            </a:r>
          </a:p>
          <a:p>
            <a:pPr>
              <a:spcAft>
                <a:spcPts val="800"/>
              </a:spcAft>
              <a:defRPr sz="1600" b="1">
                <a:solidFill>
                  <a:srgbClr val="2C2420"/>
                </a:solidFill>
                <a:latin typeface="Georgia"/>
              </a:defRPr>
            </a:pPr>
            <a:r>
              <a:t>Deterministic Crisis Router</a:t>
            </a:r>
          </a:p>
          <a:p>
            <a:pPr>
              <a:spcAft>
                <a:spcPts val="1200"/>
              </a:spcAft>
              <a:defRPr sz="1050" b="1">
                <a:solidFill>
                  <a:srgbClr val="D9663C"/>
                </a:solidFill>
                <a:latin typeface="Arial"/>
              </a:defRPr>
            </a:pPr>
            <a:r>
              <a:t>&lt;1ms Fast-Path protection inspired by Aurelio-Labs semantic routing.</a:t>
            </a:r>
          </a:p>
          <a:p>
            <a:pPr>
              <a:spcAft>
                <a:spcPts val="600"/>
              </a:spcAft>
              <a:defRPr sz="1000">
                <a:solidFill>
                  <a:srgbClr val="2C2420"/>
                </a:solidFill>
                <a:latin typeface="Arial"/>
              </a:defRPr>
            </a:pPr>
            <a:r>
              <a:t>✔ Instant Crisis Interception: Bypasses LLM queue in &lt;1ms on suicidal or self-harm keywords.</a:t>
            </a:r>
          </a:p>
          <a:p>
            <a:pPr>
              <a:spcAft>
                <a:spcPts val="600"/>
              </a:spcAft>
              <a:defRPr sz="1000">
                <a:solidFill>
                  <a:srgbClr val="2C2420"/>
                </a:solidFill>
                <a:latin typeface="Arial"/>
              </a:defRPr>
            </a:pPr>
            <a:r>
              <a:t>✔ Zero-Asking Emergency Escalation: Does not ask permission from a student in acute danger.</a:t>
            </a:r>
          </a:p>
          <a:p>
            <a:pPr>
              <a:spcAft>
                <a:spcPts val="600"/>
              </a:spcAft>
              <a:defRPr sz="1000">
                <a:solidFill>
                  <a:srgbClr val="2C2420"/>
                </a:solidFill>
                <a:latin typeface="Arial"/>
              </a:defRPr>
            </a:pPr>
            <a:r>
              <a:t>✔ Direct Tele-MANAS (14416) Lock: 1-click toll-free Govt helpline calling banner.</a:t>
            </a:r>
          </a:p>
          <a:p>
            <a:pPr>
              <a:spcAft>
                <a:spcPts val="600"/>
              </a:spcAft>
              <a:defRPr sz="1000">
                <a:solidFill>
                  <a:srgbClr val="2C2420"/>
                </a:solidFill>
                <a:latin typeface="Arial"/>
              </a:defRPr>
            </a:pPr>
            <a:r>
              <a:t>✔ Auto-SOS to Trusted Circle: Dispatches pre-formatted WhatsApp &amp; SMS alerts to parents/friends.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000" b="1">
                <a:solidFill>
                  <a:srgbClr val="D9663C"/>
                </a:solidFill>
                <a:latin typeface="Georgia"/>
              </a:defRPr>
            </a:pPr>
            <a:r>
              <a:t>03. TECH STACK &amp; ARCHITECTURE</a:t>
            </a:r>
          </a:p>
        </p:txBody>
      </p:sp>
      <p:sp>
        <p:nvSpPr>
          <p:cNvPr id="3" name="TextBox 2"/>
          <p:cNvSpPr txBox="1"/>
          <p:nvPr/>
        </p:nvSpPr>
        <p:spPr>
          <a:xfrm>
            <a:off x="731520" y="731520"/>
            <a:ext cx="10698480" cy="685800"/>
          </a:xfrm>
          <a:prstGeom prst="rect">
            <a:avLst/>
          </a:prstGeom>
          <a:noFill/>
        </p:spPr>
        <p:txBody>
          <a:bodyPr wrap="square" lIns="0" tIns="0" rIns="0" bIns="0">
            <a:spAutoFit/>
          </a:bodyPr>
          <a:lstStyle/>
          <a:p>
            <a:pPr>
              <a:defRPr sz="2400" b="1">
                <a:solidFill>
                  <a:srgbClr val="2C2420"/>
                </a:solidFill>
                <a:latin typeface="Georgia"/>
              </a:defRPr>
            </a:pPr>
            <a:r>
              <a:t>Dual-Engine Pipeline Delivering Sub-2.3s Latency</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786A60"/>
                </a:solidFill>
                <a:latin typeface="Arial"/>
              </a:defRPr>
            </a:pPr>
            <a:r>
              <a:t>Serverless Next.js 16 App Router orchestrating parallel AI models with zero server overhead.</a:t>
            </a:r>
          </a:p>
        </p:txBody>
      </p:sp>
      <p:sp>
        <p:nvSpPr>
          <p:cNvPr id="5" name="Rounded Rectangle 4"/>
          <p:cNvSpPr/>
          <p:nvPr/>
        </p:nvSpPr>
        <p:spPr>
          <a:xfrm>
            <a:off x="731520" y="1828800"/>
            <a:ext cx="5120640" cy="205740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11680"/>
            <a:ext cx="4663440" cy="1691640"/>
          </a:xfrm>
          <a:prstGeom prst="rect">
            <a:avLst/>
          </a:prstGeom>
          <a:noFill/>
        </p:spPr>
        <p:txBody>
          <a:bodyPr wrap="square" lIns="0" tIns="0" rIns="0" bIns="0">
            <a:spAutoFit/>
          </a:bodyPr>
          <a:lstStyle/>
          <a:p>
            <a:pPr>
              <a:spcAft>
                <a:spcPts val="200"/>
              </a:spcAft>
              <a:defRPr sz="1000" b="1">
                <a:solidFill>
                  <a:srgbClr val="D9663C"/>
                </a:solidFill>
                <a:latin typeface="Georgia"/>
              </a:defRPr>
            </a:pPr>
            <a:r>
              <a:t>LAYER 1: CLIENT &amp; 3D KINEMATICS</a:t>
            </a:r>
          </a:p>
          <a:p>
            <a:pPr>
              <a:spcAft>
                <a:spcPts val="600"/>
              </a:spcAft>
              <a:defRPr sz="1300" b="1">
                <a:solidFill>
                  <a:srgbClr val="2C2420"/>
                </a:solidFill>
                <a:latin typeface="Arial"/>
              </a:defRPr>
            </a:pPr>
            <a:r>
              <a:t>Next.js 16 • Three.js • @pixiv/three-vrm • Web Audio API</a:t>
            </a:r>
          </a:p>
          <a:p>
            <a:pPr>
              <a:spcAft>
                <a:spcPts val="300"/>
              </a:spcAft>
              <a:defRPr sz="950">
                <a:solidFill>
                  <a:srgbClr val="786A60"/>
                </a:solidFill>
                <a:latin typeface="Arial"/>
              </a:defRPr>
            </a:pPr>
            <a:r>
              <a:t>• Client-Side Energy VAD (Silero-inspired) with 800ms silence threshold.</a:t>
            </a:r>
          </a:p>
          <a:p>
            <a:pPr>
              <a:spcAft>
                <a:spcPts val="300"/>
              </a:spcAft>
              <a:defRPr sz="950">
                <a:solidFill>
                  <a:srgbClr val="786A60"/>
                </a:solidFill>
                <a:latin typeface="Arial"/>
              </a:defRPr>
            </a:pPr>
            <a:r>
              <a:t>• Web Audio FFT AnalyserNode feeding real-time mouth morph blendshapes.</a:t>
            </a:r>
          </a:p>
          <a:p>
            <a:pPr>
              <a:spcAft>
                <a:spcPts val="300"/>
              </a:spcAft>
              <a:defRPr sz="950">
                <a:solidFill>
                  <a:srgbClr val="786A60"/>
                </a:solidFill>
                <a:latin typeface="Arial"/>
              </a:defRPr>
            </a:pPr>
            <a:r>
              <a:t>• Continuous hands-free 'Live Voice Call' toggle with barge-in interruption.</a:t>
            </a:r>
          </a:p>
        </p:txBody>
      </p:sp>
      <p:sp>
        <p:nvSpPr>
          <p:cNvPr id="7" name="Rounded Rectangle 6"/>
          <p:cNvSpPr/>
          <p:nvPr/>
        </p:nvSpPr>
        <p:spPr>
          <a:xfrm>
            <a:off x="6217920" y="1828800"/>
            <a:ext cx="5120640" cy="205740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011680"/>
            <a:ext cx="4663440" cy="1691640"/>
          </a:xfrm>
          <a:prstGeom prst="rect">
            <a:avLst/>
          </a:prstGeom>
          <a:noFill/>
        </p:spPr>
        <p:txBody>
          <a:bodyPr wrap="square" lIns="0" tIns="0" rIns="0" bIns="0">
            <a:spAutoFit/>
          </a:bodyPr>
          <a:lstStyle/>
          <a:p>
            <a:pPr>
              <a:spcAft>
                <a:spcPts val="200"/>
              </a:spcAft>
              <a:defRPr sz="1000" b="1">
                <a:solidFill>
                  <a:srgbClr val="D9663C"/>
                </a:solidFill>
                <a:latin typeface="Georgia"/>
              </a:defRPr>
            </a:pPr>
            <a:r>
              <a:t>LAYER 2: COGNITIVE BRAIN &amp; STT</a:t>
            </a:r>
          </a:p>
          <a:p>
            <a:pPr>
              <a:spcAft>
                <a:spcPts val="600"/>
              </a:spcAft>
              <a:defRPr sz="1300" b="1">
                <a:solidFill>
                  <a:srgbClr val="2C2420"/>
                </a:solidFill>
                <a:latin typeface="Arial"/>
              </a:defRPr>
            </a:pPr>
            <a:r>
              <a:t>Groq Llama 3.3 70B &amp; Whisper Large-v3-Turbo</a:t>
            </a:r>
          </a:p>
          <a:p>
            <a:pPr>
              <a:spcAft>
                <a:spcPts val="300"/>
              </a:spcAft>
              <a:defRPr sz="950">
                <a:solidFill>
                  <a:srgbClr val="786A60"/>
                </a:solidFill>
                <a:latin typeface="Arial"/>
              </a:defRPr>
            </a:pPr>
            <a:r>
              <a:t>• Sub-150ms Speech-to-Text with automatic WAV/WEBM format sniffing.</a:t>
            </a:r>
          </a:p>
          <a:p>
            <a:pPr>
              <a:spcAft>
                <a:spcPts val="300"/>
              </a:spcAft>
              <a:defRPr sz="950">
                <a:solidFill>
                  <a:srgbClr val="786A60"/>
                </a:solidFill>
                <a:latin typeface="Arial"/>
              </a:defRPr>
            </a:pPr>
            <a:r>
              <a:t>• 350-Token Strict Groq Budget ensures punchy, natural spoken cadence.</a:t>
            </a:r>
          </a:p>
          <a:p>
            <a:pPr>
              <a:spcAft>
                <a:spcPts val="300"/>
              </a:spcAft>
              <a:defRPr sz="950">
                <a:solidFill>
                  <a:srgbClr val="786A60"/>
                </a:solidFill>
                <a:latin typeface="Arial"/>
              </a:defRPr>
            </a:pPr>
            <a:r>
              <a:t>• Fine-tuned context prompt specializing in Indian competitive exams.</a:t>
            </a:r>
          </a:p>
        </p:txBody>
      </p:sp>
      <p:sp>
        <p:nvSpPr>
          <p:cNvPr id="9" name="Rounded Rectangle 8"/>
          <p:cNvSpPr/>
          <p:nvPr/>
        </p:nvSpPr>
        <p:spPr>
          <a:xfrm>
            <a:off x="731520" y="4114800"/>
            <a:ext cx="5120640" cy="205740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97680"/>
            <a:ext cx="4663440" cy="1691640"/>
          </a:xfrm>
          <a:prstGeom prst="rect">
            <a:avLst/>
          </a:prstGeom>
          <a:noFill/>
        </p:spPr>
        <p:txBody>
          <a:bodyPr wrap="square" lIns="0" tIns="0" rIns="0" bIns="0">
            <a:spAutoFit/>
          </a:bodyPr>
          <a:lstStyle/>
          <a:p>
            <a:pPr>
              <a:spcAft>
                <a:spcPts val="200"/>
              </a:spcAft>
              <a:defRPr sz="1000" b="1">
                <a:solidFill>
                  <a:srgbClr val="D9663C"/>
                </a:solidFill>
                <a:latin typeface="Georgia"/>
              </a:defRPr>
            </a:pPr>
            <a:r>
              <a:t>LAYER 3: KINEMATIC GESTURE DIRECTOR</a:t>
            </a:r>
          </a:p>
          <a:p>
            <a:pPr>
              <a:spcAft>
                <a:spcPts val="600"/>
              </a:spcAft>
              <a:defRPr sz="1300" b="1">
                <a:solidFill>
                  <a:srgbClr val="2C2420"/>
                </a:solidFill>
                <a:latin typeface="Arial"/>
              </a:defRPr>
            </a:pPr>
            <a:r>
              <a:t>Google Gemini 3.6 Flash (Parallel Inference)</a:t>
            </a:r>
          </a:p>
          <a:p>
            <a:pPr>
              <a:spcAft>
                <a:spcPts val="300"/>
              </a:spcAft>
              <a:defRPr sz="950">
                <a:solidFill>
                  <a:srgbClr val="786A60"/>
                </a:solidFill>
                <a:latin typeface="Arial"/>
              </a:defRPr>
            </a:pPr>
            <a:r>
              <a:t>• Real-Time Director analyzing student emotional temperature in parallel.</a:t>
            </a:r>
          </a:p>
          <a:p>
            <a:pPr>
              <a:spcAft>
                <a:spcPts val="300"/>
              </a:spcAft>
              <a:defRPr sz="950">
                <a:solidFill>
                  <a:srgbClr val="786A60"/>
                </a:solidFill>
                <a:latin typeface="Arial"/>
              </a:defRPr>
            </a:pPr>
            <a:r>
              <a:t>• Selects from 9 distinct avatar gestures (hand_to_heart, reassuring_palms, etc.).</a:t>
            </a:r>
          </a:p>
          <a:p>
            <a:pPr>
              <a:spcAft>
                <a:spcPts val="300"/>
              </a:spcAft>
              <a:defRPr sz="950">
                <a:solidFill>
                  <a:srgbClr val="786A60"/>
                </a:solidFill>
                <a:latin typeface="Arial"/>
              </a:defRPr>
            </a:pPr>
            <a:r>
              <a:t>• Controls smile intensity, head tilt angle, and kinetic emotional energy.</a:t>
            </a:r>
          </a:p>
        </p:txBody>
      </p:sp>
      <p:sp>
        <p:nvSpPr>
          <p:cNvPr id="11" name="Rounded Rectangle 10"/>
          <p:cNvSpPr/>
          <p:nvPr/>
        </p:nvSpPr>
        <p:spPr>
          <a:xfrm>
            <a:off x="6217920" y="4114800"/>
            <a:ext cx="5120640" cy="205740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297680"/>
            <a:ext cx="4663440" cy="1691640"/>
          </a:xfrm>
          <a:prstGeom prst="rect">
            <a:avLst/>
          </a:prstGeom>
          <a:noFill/>
        </p:spPr>
        <p:txBody>
          <a:bodyPr wrap="square" lIns="0" tIns="0" rIns="0" bIns="0">
            <a:spAutoFit/>
          </a:bodyPr>
          <a:lstStyle/>
          <a:p>
            <a:pPr>
              <a:spcAft>
                <a:spcPts val="200"/>
              </a:spcAft>
              <a:defRPr sz="1000" b="1">
                <a:solidFill>
                  <a:srgbClr val="D9663C"/>
                </a:solidFill>
                <a:latin typeface="Georgia"/>
              </a:defRPr>
            </a:pPr>
            <a:r>
              <a:t>LAYER 4: VOICE SYNTHESIS &amp; SAFETY</a:t>
            </a:r>
          </a:p>
          <a:p>
            <a:pPr>
              <a:spcAft>
                <a:spcPts val="600"/>
              </a:spcAft>
              <a:defRPr sz="1300" b="1">
                <a:solidFill>
                  <a:srgbClr val="2C2420"/>
                </a:solidFill>
                <a:latin typeface="Arial"/>
              </a:defRPr>
            </a:pPr>
            <a:r>
              <a:t>Gnani.ai Timbre-v2.5 &amp; Tele-MANAS SOS</a:t>
            </a:r>
          </a:p>
          <a:p>
            <a:pPr>
              <a:spcAft>
                <a:spcPts val="300"/>
              </a:spcAft>
              <a:defRPr sz="950">
                <a:solidFill>
                  <a:srgbClr val="786A60"/>
                </a:solidFill>
                <a:latin typeface="Arial"/>
              </a:defRPr>
            </a:pPr>
            <a:r>
              <a:t>• Gnani.ai 24kHz linear PCM Indian English voice co-delivered with text.</a:t>
            </a:r>
          </a:p>
          <a:p>
            <a:pPr>
              <a:spcAft>
                <a:spcPts val="300"/>
              </a:spcAft>
              <a:defRPr sz="950">
                <a:solidFill>
                  <a:srgbClr val="786A60"/>
                </a:solidFill>
                <a:latin typeface="Arial"/>
              </a:defRPr>
            </a:pPr>
            <a:r>
              <a:t>• Deterministic In-Memory RAG: 140 clinical items in JSON (&lt;1ms lookup).</a:t>
            </a:r>
          </a:p>
          <a:p>
            <a:pPr>
              <a:spcAft>
                <a:spcPts val="300"/>
              </a:spcAft>
              <a:defRPr sz="950">
                <a:solidFill>
                  <a:srgbClr val="786A60"/>
                </a:solidFill>
                <a:latin typeface="Arial"/>
              </a:defRPr>
            </a:pPr>
            <a:r>
              <a:t>• Automated Multi-Channel SOS: Twilio, WhatsApp wa.me &amp; SMS dispatch.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000" b="1">
                <a:solidFill>
                  <a:srgbClr val="D9663C"/>
                </a:solidFill>
                <a:latin typeface="Georgia"/>
              </a:defRPr>
            </a:pPr>
            <a:r>
              <a:t>04. MARKET RESEARCH &amp; DATA RIGOR</a:t>
            </a:r>
          </a:p>
        </p:txBody>
      </p:sp>
      <p:sp>
        <p:nvSpPr>
          <p:cNvPr id="3" name="TextBox 2"/>
          <p:cNvSpPr txBox="1"/>
          <p:nvPr/>
        </p:nvSpPr>
        <p:spPr>
          <a:xfrm>
            <a:off x="731520" y="731520"/>
            <a:ext cx="10698480" cy="685800"/>
          </a:xfrm>
          <a:prstGeom prst="rect">
            <a:avLst/>
          </a:prstGeom>
          <a:noFill/>
        </p:spPr>
        <p:txBody>
          <a:bodyPr wrap="square" lIns="0" tIns="0" rIns="0" bIns="0">
            <a:spAutoFit/>
          </a:bodyPr>
          <a:lstStyle/>
          <a:p>
            <a:pPr>
              <a:defRPr sz="2400" b="1">
                <a:solidFill>
                  <a:srgbClr val="2C2420"/>
                </a:solidFill>
                <a:latin typeface="Georgia"/>
              </a:defRPr>
            </a:pPr>
            <a:r>
              <a:t>$1.2B Market Sizing &amp; Grounded Clinical Datasets</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786A60"/>
                </a:solidFill>
                <a:latin typeface="Arial"/>
              </a:defRPr>
            </a:pPr>
            <a:r>
              <a:t>Targeting 45M Indian students backed by validated therapeutic repositories and national helplines.</a:t>
            </a:r>
          </a:p>
        </p:txBody>
      </p:sp>
      <p:sp>
        <p:nvSpPr>
          <p:cNvPr id="5" name="Rounded Rectangle 4"/>
          <p:cNvSpPr/>
          <p:nvPr/>
        </p:nvSpPr>
        <p:spPr>
          <a:xfrm>
            <a:off x="731520" y="1828800"/>
            <a:ext cx="5120640"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57400"/>
            <a:ext cx="4663440" cy="3840480"/>
          </a:xfrm>
          <a:prstGeom prst="rect">
            <a:avLst/>
          </a:prstGeom>
          <a:noFill/>
        </p:spPr>
        <p:txBody>
          <a:bodyPr wrap="square" lIns="0" tIns="0" rIns="0" bIns="0">
            <a:spAutoFit/>
          </a:bodyPr>
          <a:lstStyle/>
          <a:p>
            <a:pPr>
              <a:spcAft>
                <a:spcPts val="1200"/>
              </a:spcAft>
              <a:defRPr sz="1100" b="1">
                <a:solidFill>
                  <a:srgbClr val="D9663C"/>
                </a:solidFill>
                <a:latin typeface="Georgia"/>
              </a:defRPr>
            </a:pPr>
            <a:r>
              <a:t>MARKET OPPORTUNITY &amp; TRACTION</a:t>
            </a:r>
          </a:p>
          <a:p>
            <a:pPr>
              <a:defRPr sz="1400" b="1">
                <a:solidFill>
                  <a:srgbClr val="2C2420"/>
                </a:solidFill>
                <a:latin typeface="Georgia"/>
              </a:defRPr>
            </a:pPr>
            <a:r>
              <a:t>TAM: $1.2B (45M Students)</a:t>
            </a:r>
          </a:p>
          <a:p>
            <a:pPr>
              <a:spcAft>
                <a:spcPts val="1000"/>
              </a:spcAft>
              <a:defRPr sz="1000">
                <a:solidFill>
                  <a:srgbClr val="786A60"/>
                </a:solidFill>
                <a:latin typeface="Arial"/>
              </a:defRPr>
            </a:pPr>
            <a:r>
              <a:t>Total Indian test-prep, competitive coaching &amp; higher secondary student market.</a:t>
            </a:r>
          </a:p>
          <a:p>
            <a:pPr>
              <a:defRPr sz="1400" b="1">
                <a:solidFill>
                  <a:srgbClr val="2C2420"/>
                </a:solidFill>
                <a:latin typeface="Georgia"/>
              </a:defRPr>
            </a:pPr>
            <a:r>
              <a:t>SAM: $320M (12M Coaching Aspirants)</a:t>
            </a:r>
          </a:p>
          <a:p>
            <a:pPr>
              <a:spcAft>
                <a:spcPts val="1000"/>
              </a:spcAft>
              <a:defRPr sz="1000">
                <a:solidFill>
                  <a:srgbClr val="786A60"/>
                </a:solidFill>
                <a:latin typeface="Arial"/>
              </a:defRPr>
            </a:pPr>
            <a:r>
              <a:t>Students enrolled in intensive offline &amp; online coaching centers (Kota, Hyderabad, Allen, Aakash).</a:t>
            </a:r>
          </a:p>
          <a:p>
            <a:pPr>
              <a:defRPr sz="1400" b="1">
                <a:solidFill>
                  <a:srgbClr val="2C2420"/>
                </a:solidFill>
                <a:latin typeface="Georgia"/>
              </a:defRPr>
            </a:pPr>
            <a:r>
              <a:t>SOM: $24M (500K Early Adopters)</a:t>
            </a:r>
          </a:p>
          <a:p>
            <a:pPr>
              <a:spcAft>
                <a:spcPts val="1000"/>
              </a:spcAft>
              <a:defRPr sz="1000">
                <a:solidFill>
                  <a:srgbClr val="786A60"/>
                </a:solidFill>
                <a:latin typeface="Arial"/>
              </a:defRPr>
            </a:pPr>
            <a:r>
              <a:t>Initial beachhead: NEET &amp; JEE droppers and repeaters seeking dedicated emotional support companions.</a:t>
            </a:r>
          </a:p>
          <a:p>
            <a:pPr>
              <a:spcAft>
                <a:spcPts val="400"/>
              </a:spcAft>
              <a:defRPr sz="1100" b="1">
                <a:solidFill>
                  <a:srgbClr val="357568"/>
                </a:solidFill>
                <a:latin typeface="Georgia"/>
              </a:defRPr>
            </a:pPr>
            <a:r>
              <a:t>BUSINESS MODEL:</a:t>
            </a:r>
          </a:p>
          <a:p>
            <a:pPr>
              <a:defRPr sz="1000">
                <a:solidFill>
                  <a:srgbClr val="2C2420"/>
                </a:solidFill>
                <a:latin typeface="Arial"/>
              </a:defRPr>
            </a:pPr>
            <a:r>
              <a:t>• B2C Freemium: Free daily chats + ₹299/mo Pro (Unlimited voice calls, detailed anxiety trend reports).</a:t>
            </a:r>
            <a:br/>
            <a:r>
              <a:t>• B2B Institutional Licensing: White-label coaching dashboard for batch-level burnout heatmaps.</a:t>
            </a:r>
          </a:p>
        </p:txBody>
      </p:sp>
      <p:sp>
        <p:nvSpPr>
          <p:cNvPr id="7" name="Rounded Rectangle 6"/>
          <p:cNvSpPr/>
          <p:nvPr/>
        </p:nvSpPr>
        <p:spPr>
          <a:xfrm>
            <a:off x="6126480" y="1828800"/>
            <a:ext cx="5303520"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057400"/>
            <a:ext cx="4846320" cy="3840480"/>
          </a:xfrm>
          <a:prstGeom prst="rect">
            <a:avLst/>
          </a:prstGeom>
          <a:noFill/>
        </p:spPr>
        <p:txBody>
          <a:bodyPr wrap="square" lIns="0" tIns="0" rIns="0" bIns="0">
            <a:spAutoFit/>
          </a:bodyPr>
          <a:lstStyle/>
          <a:p>
            <a:pPr>
              <a:spcAft>
                <a:spcPts val="1000"/>
              </a:spcAft>
              <a:defRPr sz="1100" b="1">
                <a:solidFill>
                  <a:srgbClr val="D9663C"/>
                </a:solidFill>
                <a:latin typeface="Georgia"/>
              </a:defRPr>
            </a:pPr>
            <a:r>
              <a:t>CURATED CLINICAL &amp; HINGLISH DATASETS</a:t>
            </a:r>
          </a:p>
          <a:p>
            <a:pPr>
              <a:defRPr sz="1200" b="1">
                <a:solidFill>
                  <a:srgbClr val="2C2420"/>
                </a:solidFill>
                <a:latin typeface="Georgia"/>
              </a:defRPr>
            </a:pPr>
            <a:r>
              <a:t>🔹 nbertagnolli/counsel-chat (Hugging Face)</a:t>
            </a:r>
          </a:p>
          <a:p>
            <a:pPr>
              <a:spcAft>
                <a:spcPts val="600"/>
              </a:spcAft>
              <a:defRPr sz="950">
                <a:solidFill>
                  <a:srgbClr val="786A60"/>
                </a:solidFill>
                <a:latin typeface="Arial"/>
              </a:defRPr>
            </a:pPr>
            <a:r>
              <a:t>Thousands of real therapy questions answered by licensed practitioners; gold standard for training pain validation over cheerleading.</a:t>
            </a:r>
          </a:p>
          <a:p>
            <a:pPr>
              <a:defRPr sz="1200" b="1">
                <a:solidFill>
                  <a:srgbClr val="2C2420"/>
                </a:solidFill>
                <a:latin typeface="Georgia"/>
              </a:defRPr>
            </a:pPr>
            <a:r>
              <a:t>🔹 bdotloh/empathetic-dialogues (Meta AI)</a:t>
            </a:r>
          </a:p>
          <a:p>
            <a:pPr>
              <a:spcAft>
                <a:spcPts val="600"/>
              </a:spcAft>
              <a:defRPr sz="950">
                <a:solidFill>
                  <a:srgbClr val="786A60"/>
                </a:solidFill>
                <a:latin typeface="Arial"/>
              </a:defRPr>
            </a:pPr>
            <a:r>
              <a:t>25,000+ grounded conversations mapping 32 distinct emotional states (panic, loneliness, exam dread) to supportive responses.</a:t>
            </a:r>
          </a:p>
          <a:p>
            <a:pPr>
              <a:defRPr sz="1200" b="1">
                <a:solidFill>
                  <a:srgbClr val="2C2420"/>
                </a:solidFill>
                <a:latin typeface="Georgia"/>
              </a:defRPr>
            </a:pPr>
            <a:r>
              <a:t>🔹 l3cube-pune/hinglish-sentiment (Hugging Face)</a:t>
            </a:r>
          </a:p>
          <a:p>
            <a:pPr>
              <a:spcAft>
                <a:spcPts val="600"/>
              </a:spcAft>
              <a:defRPr sz="950">
                <a:solidFill>
                  <a:srgbClr val="786A60"/>
                </a:solidFill>
                <a:latin typeface="Arial"/>
              </a:defRPr>
            </a:pPr>
            <a:r>
              <a:t>Major code-mixed sentiment corpus teaching Mahiru to understand Indian youth vernacular: 'kalesh', 'fati padi hai', 'drame'.</a:t>
            </a:r>
          </a:p>
          <a:p>
            <a:pPr>
              <a:defRPr sz="1200" b="1">
                <a:solidFill>
                  <a:srgbClr val="2C2420"/>
                </a:solidFill>
                <a:latin typeface="Georgia"/>
              </a:defRPr>
            </a:pPr>
            <a:r>
              <a:t>🔹 Tele-MANAS &amp; KIRAN Official Protocol</a:t>
            </a:r>
          </a:p>
          <a:p>
            <a:pPr>
              <a:spcAft>
                <a:spcPts val="600"/>
              </a:spcAft>
              <a:defRPr sz="950">
                <a:solidFill>
                  <a:srgbClr val="786A60"/>
                </a:solidFill>
                <a:latin typeface="Arial"/>
              </a:defRPr>
            </a:pPr>
            <a:r>
              <a:t>Direct alignment with Govt. of India Ministry of Health guidelines for 24/7 mental health crisis routing and helpline 14416.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9F2"/>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000" b="1">
                <a:solidFill>
                  <a:srgbClr val="D9663C"/>
                </a:solidFill>
                <a:latin typeface="Georgia"/>
              </a:defRPr>
            </a:pPr>
            <a:r>
              <a:t>05. LIVE EXPERIENCE &amp; VISION</a:t>
            </a:r>
          </a:p>
        </p:txBody>
      </p:sp>
      <p:sp>
        <p:nvSpPr>
          <p:cNvPr id="3" name="TextBox 2"/>
          <p:cNvSpPr txBox="1"/>
          <p:nvPr/>
        </p:nvSpPr>
        <p:spPr>
          <a:xfrm>
            <a:off x="731520" y="731520"/>
            <a:ext cx="10698480" cy="685800"/>
          </a:xfrm>
          <a:prstGeom prst="rect">
            <a:avLst/>
          </a:prstGeom>
          <a:noFill/>
        </p:spPr>
        <p:txBody>
          <a:bodyPr wrap="square" lIns="0" tIns="0" rIns="0" bIns="0">
            <a:spAutoFit/>
          </a:bodyPr>
          <a:lstStyle/>
          <a:p>
            <a:pPr>
              <a:defRPr sz="2400" b="1">
                <a:solidFill>
                  <a:srgbClr val="2C2420"/>
                </a:solidFill>
                <a:latin typeface="Georgia"/>
              </a:defRPr>
            </a:pPr>
            <a:r>
              <a:t>Every Student Deserves a Safe Space to Be Heard</a:t>
            </a:r>
          </a:p>
        </p:txBody>
      </p:sp>
      <p:sp>
        <p:nvSpPr>
          <p:cNvPr id="4" name="TextBox 3"/>
          <p:cNvSpPr txBox="1"/>
          <p:nvPr/>
        </p:nvSpPr>
        <p:spPr>
          <a:xfrm>
            <a:off x="731520" y="1325880"/>
            <a:ext cx="10698480" cy="365760"/>
          </a:xfrm>
          <a:prstGeom prst="rect">
            <a:avLst/>
          </a:prstGeom>
          <a:noFill/>
        </p:spPr>
        <p:txBody>
          <a:bodyPr wrap="square" lIns="0" tIns="0" rIns="0" bIns="0">
            <a:spAutoFit/>
          </a:bodyPr>
          <a:lstStyle/>
          <a:p>
            <a:pPr>
              <a:defRPr sz="1200">
                <a:solidFill>
                  <a:srgbClr val="786A60"/>
                </a:solidFill>
                <a:latin typeface="Arial"/>
              </a:defRPr>
            </a:pPr>
            <a:r>
              <a:t>Experience Mahiru live right now on Vercel and inspect our open-source codebase.</a:t>
            </a:r>
          </a:p>
        </p:txBody>
      </p:sp>
      <p:sp>
        <p:nvSpPr>
          <p:cNvPr id="5" name="Rounded Rectangle 4"/>
          <p:cNvSpPr/>
          <p:nvPr/>
        </p:nvSpPr>
        <p:spPr>
          <a:xfrm>
            <a:off x="731520" y="1828800"/>
            <a:ext cx="5120640"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57400"/>
            <a:ext cx="4663440" cy="3840480"/>
          </a:xfrm>
          <a:prstGeom prst="rect">
            <a:avLst/>
          </a:prstGeom>
          <a:noFill/>
        </p:spPr>
        <p:txBody>
          <a:bodyPr wrap="square" lIns="0" tIns="0" rIns="0" bIns="0">
            <a:spAutoFit/>
          </a:bodyPr>
          <a:lstStyle/>
          <a:p>
            <a:pPr>
              <a:spcAft>
                <a:spcPts val="1200"/>
              </a:spcAft>
              <a:defRPr sz="1100" b="1">
                <a:solidFill>
                  <a:srgbClr val="D9663C"/>
                </a:solidFill>
                <a:latin typeface="Georgia"/>
              </a:defRPr>
            </a:pPr>
            <a:r>
              <a:t>LIVE DEPLOYMENT &amp; REPOSITORY</a:t>
            </a:r>
          </a:p>
          <a:p>
            <a:pPr>
              <a:defRPr sz="1300" b="1">
                <a:solidFill>
                  <a:srgbClr val="2C2420"/>
                </a:solidFill>
                <a:latin typeface="Georgia"/>
              </a:defRPr>
            </a:pPr>
            <a:r>
              <a:t>🌐 Live Production Link</a:t>
            </a:r>
          </a:p>
          <a:p>
            <a:pPr>
              <a:spcAft>
                <a:spcPts val="800"/>
              </a:spcAft>
              <a:defRPr sz="1000">
                <a:solidFill>
                  <a:srgbClr val="786A60"/>
                </a:solidFill>
                <a:latin typeface="Arial"/>
              </a:defRPr>
            </a:pPr>
            <a:r>
              <a:t>Deployed on Vercel Edge Serverless Architecture</a:t>
            </a:r>
          </a:p>
          <a:p>
            <a:pPr>
              <a:defRPr sz="1300" b="1">
                <a:solidFill>
                  <a:srgbClr val="2C2420"/>
                </a:solidFill>
                <a:latin typeface="Georgia"/>
              </a:defRPr>
            </a:pPr>
            <a:r>
              <a:t>📂 GitHub Repository</a:t>
            </a:r>
          </a:p>
          <a:p>
            <a:pPr>
              <a:spcAft>
                <a:spcPts val="800"/>
              </a:spcAft>
              <a:defRPr sz="1000">
                <a:solidFill>
                  <a:srgbClr val="786A60"/>
                </a:solidFill>
                <a:latin typeface="Arial"/>
              </a:defRPr>
            </a:pPr>
            <a:r>
              <a:t>github.com/Code-hk-hack/moodmitra (Clean, Verified, Open-Source)</a:t>
            </a:r>
          </a:p>
          <a:p>
            <a:pPr>
              <a:defRPr sz="1300" b="1">
                <a:solidFill>
                  <a:srgbClr val="2C2420"/>
                </a:solidFill>
                <a:latin typeface="Georgia"/>
              </a:defRPr>
            </a:pPr>
            <a:r>
              <a:t>⚡ Real-Time Latency</a:t>
            </a:r>
          </a:p>
          <a:p>
            <a:pPr>
              <a:spcAft>
                <a:spcPts val="800"/>
              </a:spcAft>
              <a:defRPr sz="1000">
                <a:solidFill>
                  <a:srgbClr val="786A60"/>
                </a:solidFill>
                <a:latin typeface="Arial"/>
              </a:defRPr>
            </a:pPr>
            <a:r>
              <a:t>&lt;2.3s Full Speech &amp; Kinematic Co-Delivery</a:t>
            </a:r>
          </a:p>
          <a:p>
            <a:pPr>
              <a:defRPr sz="1300" b="1">
                <a:solidFill>
                  <a:srgbClr val="2C2420"/>
                </a:solidFill>
                <a:latin typeface="Georgia"/>
              </a:defRPr>
            </a:pPr>
            <a:r>
              <a:t>🛡️ Safety Certification</a:t>
            </a:r>
          </a:p>
          <a:p>
            <a:pPr>
              <a:spcAft>
                <a:spcPts val="800"/>
              </a:spcAft>
              <a:defRPr sz="1000">
                <a:solidFill>
                  <a:srgbClr val="786A60"/>
                </a:solidFill>
                <a:latin typeface="Arial"/>
              </a:defRPr>
            </a:pPr>
            <a:r>
              <a:t>100% Deterministic Crisis Guardrail + Tele-MANAS 14416 Lock</a:t>
            </a:r>
          </a:p>
          <a:p>
            <a:pPr>
              <a:defRPr sz="1600" b="1" i="1">
                <a:solidFill>
                  <a:srgbClr val="D9663C"/>
                </a:solidFill>
                <a:latin typeface="Georgia"/>
              </a:defRPr>
            </a:pPr>
            <a:r>
              <a:t>“Let's experience Mahiru in action.” 🎤</a:t>
            </a:r>
          </a:p>
        </p:txBody>
      </p:sp>
      <p:sp>
        <p:nvSpPr>
          <p:cNvPr id="7" name="Rounded Rectangle 6"/>
          <p:cNvSpPr/>
          <p:nvPr/>
        </p:nvSpPr>
        <p:spPr>
          <a:xfrm>
            <a:off x="6126480" y="1828800"/>
            <a:ext cx="5303520" cy="429768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2057400"/>
            <a:ext cx="4846320" cy="3840480"/>
          </a:xfrm>
          <a:prstGeom prst="rect">
            <a:avLst/>
          </a:prstGeom>
          <a:noFill/>
        </p:spPr>
        <p:txBody>
          <a:bodyPr wrap="square" lIns="0" tIns="0" rIns="0" bIns="0">
            <a:spAutoFit/>
          </a:bodyPr>
          <a:lstStyle/>
          <a:p>
            <a:pPr>
              <a:spcAft>
                <a:spcPts val="1200"/>
              </a:spcAft>
              <a:defRPr sz="1100" b="1">
                <a:solidFill>
                  <a:srgbClr val="D9663C"/>
                </a:solidFill>
                <a:latin typeface="Georgia"/>
              </a:defRPr>
            </a:pPr>
            <a:r>
              <a:t>ROADMAP &amp; FUTURE IMPACT</a:t>
            </a:r>
          </a:p>
          <a:p>
            <a:pPr>
              <a:defRPr sz="1200" b="1">
                <a:solidFill>
                  <a:srgbClr val="2C2420"/>
                </a:solidFill>
                <a:latin typeface="Georgia"/>
              </a:defRPr>
            </a:pPr>
            <a:r>
              <a:t>🚀 Q3 2026: Multi-Regional Languages</a:t>
            </a:r>
          </a:p>
          <a:p>
            <a:pPr>
              <a:spcAft>
                <a:spcPts val="800"/>
              </a:spcAft>
              <a:defRPr sz="950">
                <a:solidFill>
                  <a:srgbClr val="786A60"/>
                </a:solidFill>
                <a:latin typeface="Arial"/>
              </a:defRPr>
            </a:pPr>
            <a:r>
              <a:t>Expanding beyond Hinglish into Tamil, Telugu, Marathi, and Bengali to protect rural exam aspirants.</a:t>
            </a:r>
          </a:p>
          <a:p>
            <a:pPr>
              <a:defRPr sz="1200" b="1">
                <a:solidFill>
                  <a:srgbClr val="2C2420"/>
                </a:solidFill>
                <a:latin typeface="Georgia"/>
              </a:defRPr>
            </a:pPr>
            <a:r>
              <a:t>🚀 Q4 2026: Wearable Biofeedback (Smartwatches)</a:t>
            </a:r>
          </a:p>
          <a:p>
            <a:pPr>
              <a:spcAft>
                <a:spcPts val="800"/>
              </a:spcAft>
              <a:defRPr sz="950">
                <a:solidFill>
                  <a:srgbClr val="786A60"/>
                </a:solidFill>
                <a:latin typeface="Arial"/>
              </a:defRPr>
            </a:pPr>
            <a:r>
              <a:t>Continuous HR &amp; galvanic skin response integration to preemptively detect panic spikes before mock exams.</a:t>
            </a:r>
          </a:p>
          <a:p>
            <a:pPr>
              <a:defRPr sz="1200" b="1">
                <a:solidFill>
                  <a:srgbClr val="2C2420"/>
                </a:solidFill>
                <a:latin typeface="Georgia"/>
              </a:defRPr>
            </a:pPr>
            <a:r>
              <a:t>🚀 Q1 2027: B2B Coaching Academy Integration</a:t>
            </a:r>
          </a:p>
          <a:p>
            <a:pPr>
              <a:spcAft>
                <a:spcPts val="800"/>
              </a:spcAft>
              <a:defRPr sz="950">
                <a:solidFill>
                  <a:srgbClr val="786A60"/>
                </a:solidFill>
                <a:latin typeface="Arial"/>
              </a:defRPr>
            </a:pPr>
            <a:r>
              <a:t>Institutional dashboard providing aggregate, anonymized stress analytics to academic counselors in Kota &amp; Hyderabad.</a:t>
            </a:r>
          </a:p>
          <a:p>
            <a:pPr>
              <a:spcAft>
                <a:spcPts val="400"/>
              </a:spcAft>
              <a:defRPr sz="2400" b="1">
                <a:solidFill>
                  <a:srgbClr val="D9663C"/>
                </a:solidFill>
                <a:latin typeface="Georgia"/>
              </a:defRPr>
            </a:pPr>
            <a:r>
              <a:t>THANK YOU!</a:t>
            </a:r>
          </a:p>
          <a:p>
            <a:pPr>
              <a:defRPr sz="1100" b="1">
                <a:solidFill>
                  <a:srgbClr val="2C2420"/>
                </a:solidFill>
                <a:latin typeface="Arial"/>
              </a:defRPr>
            </a:pPr>
            <a:r>
              <a:t>Team Solo Hacker  |  Open for Q&amp;A and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